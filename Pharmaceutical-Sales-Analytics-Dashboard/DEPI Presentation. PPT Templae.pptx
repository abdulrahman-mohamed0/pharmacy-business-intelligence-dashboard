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68" r:id="rId3"/>
    <p:sldId id="263" r:id="rId5"/>
    <p:sldId id="269" r:id="rId6"/>
    <p:sldId id="270" r:id="rId7"/>
    <p:sldId id="271" r:id="rId8"/>
    <p:sldId id="272" r:id="rId9"/>
    <p:sldId id="275" r:id="rId10"/>
    <p:sldId id="287" r:id="rId11"/>
    <p:sldId id="288" r:id="rId12"/>
    <p:sldId id="289" r:id="rId13"/>
    <p:sldId id="277" r:id="rId14"/>
    <p:sldId id="281" r:id="rId15"/>
    <p:sldId id="279" r:id="rId16"/>
    <p:sldId id="282" r:id="rId17"/>
    <p:sldId id="291" r:id="rId18"/>
    <p:sldId id="284" r:id="rId19"/>
    <p:sldId id="286" r:id="rId20"/>
    <p:sldId id="266" r:id="rId21"/>
  </p:sldIdLst>
  <p:sldSz cx="12192000" cy="6858000"/>
  <p:notesSz cx="6858000" cy="9144000"/>
  <p:embeddedFontLst>
    <p:embeddedFont>
      <p:font typeface="Calibri" panose="020F0502020204030204"/>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0"/>
        <p:cNvGrpSpPr/>
        <p:nvPr/>
      </p:nvGrpSpPr>
      <p:grpSpPr>
        <a:xfrm>
          <a:off x="0" y="0"/>
          <a:ext cx="0" cy="0"/>
          <a:chOff x="0" y="0"/>
          <a:chExt cx="0" cy="0"/>
        </a:xfrm>
      </p:grpSpPr>
      <p:sp>
        <p:nvSpPr>
          <p:cNvPr id="211" name="Google Shape;21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12" name="Google Shape;21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5"/>
        <p:cNvGrpSpPr/>
        <p:nvPr/>
      </p:nvGrpSpPr>
      <p:grpSpPr>
        <a:xfrm>
          <a:off x="0" y="0"/>
          <a:ext cx="0" cy="0"/>
          <a:chOff x="0" y="0"/>
          <a:chExt cx="0" cy="0"/>
        </a:xfrm>
      </p:grpSpPr>
      <p:sp>
        <p:nvSpPr>
          <p:cNvPr id="36" name="Google Shape;3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40" name="Google Shape;40;p17"/>
          <p:cNvPicPr preferRelativeResize="0"/>
          <p:nvPr/>
        </p:nvPicPr>
        <p:blipFill rotWithShape="1">
          <a:blip r:embed="rId2"/>
          <a:srcRect/>
          <a:stretch>
            <a:fillRect/>
          </a:stretch>
        </p:blipFill>
        <p:spPr>
          <a:xfrm>
            <a:off x="10711512" y="330213"/>
            <a:ext cx="1284576" cy="637759"/>
          </a:xfrm>
          <a:prstGeom prst="rect">
            <a:avLst/>
          </a:prstGeom>
          <a:noFill/>
          <a:ln>
            <a:noFill/>
          </a:ln>
        </p:spPr>
      </p:pic>
      <p:pic>
        <p:nvPicPr>
          <p:cNvPr id="41" name="Google Shape;41;p17"/>
          <p:cNvPicPr preferRelativeResize="0"/>
          <p:nvPr/>
        </p:nvPicPr>
        <p:blipFill rotWithShape="1">
          <a:blip r:embed="rId3"/>
          <a:srcRect/>
          <a:stretch>
            <a:fillRect/>
          </a:stretch>
        </p:blipFill>
        <p:spPr>
          <a:xfrm>
            <a:off x="93317" y="0"/>
            <a:ext cx="1489765" cy="1386637"/>
          </a:xfrm>
          <a:prstGeom prst="rect">
            <a:avLst/>
          </a:prstGeom>
          <a:noFill/>
          <a:ln>
            <a:noFill/>
          </a:ln>
        </p:spPr>
      </p:pic>
      <p:sp>
        <p:nvSpPr>
          <p:cNvPr id="42" name="Google Shape;4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srcRect/>
          <a:stretch>
            <a:fill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srcRect/>
          <a:stretch>
            <a:fill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51" name="Google Shape;51;p18"/>
          <p:cNvPicPr preferRelativeResize="0"/>
          <p:nvPr/>
        </p:nvPicPr>
        <p:blipFill rotWithShape="1">
          <a:blip r:embed="rId4"/>
          <a:srcRect/>
          <a:stretch>
            <a:fill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3"/>
          <a:srcRect/>
          <a:stretch>
            <a:fill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4"/>
          <a:srcRect/>
          <a:stretch>
            <a:fill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pic>
        <p:nvPicPr>
          <p:cNvPr id="13" name="Google Shape;13;p13"/>
          <p:cNvPicPr preferRelativeResize="0"/>
          <p:nvPr/>
        </p:nvPicPr>
        <p:blipFill rotWithShape="1">
          <a:blip r:embed="rId15"/>
          <a:srcRect/>
          <a:stretch>
            <a:fill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4.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3.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6"/>
          <p:cNvSpPr txBox="1">
            <a:spLocks noGrp="1"/>
          </p:cNvSpPr>
          <p:nvPr>
            <p:ph type="ctrTitle"/>
          </p:nvPr>
        </p:nvSpPr>
        <p:spPr>
          <a:xfrm>
            <a:off x="1444625" y="-261937"/>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panose="020F0502020204030204"/>
              <a:buNone/>
            </a:pPr>
            <a:r>
              <a:rPr lang="en-US" altLang="en-US" sz="3555"/>
              <a:t>Pharmaceutical Sales Analytics Dashboard</a:t>
            </a:r>
            <a:br>
              <a:rPr lang="en-US" altLang="en-US" sz="3555"/>
            </a:br>
            <a:r>
              <a:rPr lang="en-US" altLang="en-US" sz="3555"/>
              <a:t>DEPI Graduation Project</a:t>
            </a:r>
            <a:br>
              <a:rPr lang="en-US" altLang="en-US" sz="3555"/>
            </a:br>
            <a:endParaRPr lang="en-US" altLang="en-US" sz="3555"/>
          </a:p>
        </p:txBody>
      </p:sp>
      <p:sp>
        <p:nvSpPr>
          <p:cNvPr id="161" name="Google Shape;161;p6"/>
          <p:cNvSpPr txBox="1">
            <a:spLocks noGrp="1"/>
          </p:cNvSpPr>
          <p:nvPr>
            <p:ph type="subTitle" idx="1"/>
          </p:nvPr>
        </p:nvSpPr>
        <p:spPr>
          <a:xfrm>
            <a:off x="467995" y="1881505"/>
            <a:ext cx="9144000" cy="395033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altLang="en-US" sz="2800">
                <a:sym typeface="+mn-ea"/>
              </a:rPr>
              <a:t>Prepared By:</a:t>
            </a:r>
            <a:br>
              <a:rPr lang="en-US" altLang="en-US">
                <a:sym typeface="+mn-ea"/>
              </a:rPr>
            </a:br>
            <a:r>
              <a:rPr lang="en-US" altLang="en-US">
                <a:sym typeface="+mn-ea"/>
              </a:rPr>
              <a:t>•Abdulrhman Mohamed Fathi</a:t>
            </a:r>
            <a:endParaRPr lang="en-US" altLang="en-US">
              <a:sym typeface="+mn-ea"/>
            </a:endParaRPr>
          </a:p>
          <a:p>
            <a:pPr marL="0" lvl="0" indent="0" algn="l" rtl="0">
              <a:lnSpc>
                <a:spcPct val="90000"/>
              </a:lnSpc>
              <a:spcBef>
                <a:spcPts val="0"/>
              </a:spcBef>
              <a:spcAft>
                <a:spcPts val="0"/>
              </a:spcAft>
              <a:buClr>
                <a:schemeClr val="dk1"/>
              </a:buClr>
              <a:buSzPts val="2400"/>
              <a:buNone/>
            </a:pPr>
            <a:r>
              <a:rPr lang="en-US" altLang="en-US">
                <a:sym typeface="+mn-ea"/>
              </a:rPr>
              <a:t>•Andrawes Elia Attia Ibrahim</a:t>
            </a:r>
            <a:endParaRPr lang="en-US" altLang="en-US">
              <a:sym typeface="+mn-ea"/>
            </a:endParaRPr>
          </a:p>
          <a:p>
            <a:pPr marL="0" lvl="0" indent="0" algn="l" rtl="0">
              <a:lnSpc>
                <a:spcPct val="90000"/>
              </a:lnSpc>
              <a:spcBef>
                <a:spcPts val="0"/>
              </a:spcBef>
              <a:spcAft>
                <a:spcPts val="0"/>
              </a:spcAft>
              <a:buClr>
                <a:schemeClr val="dk1"/>
              </a:buClr>
              <a:buSzPts val="2400"/>
              <a:buNone/>
            </a:pPr>
            <a:r>
              <a:rPr lang="en-US" altLang="en-US">
                <a:sym typeface="+mn-ea"/>
              </a:rPr>
              <a:t>•Abdul Rahman Khalid Sayed</a:t>
            </a:r>
            <a:endParaRPr lang="en-US" altLang="en-US">
              <a:sym typeface="+mn-ea"/>
            </a:endParaRPr>
          </a:p>
          <a:p>
            <a:pPr marL="0" lvl="0" indent="0" algn="l" rtl="0">
              <a:lnSpc>
                <a:spcPct val="90000"/>
              </a:lnSpc>
              <a:spcBef>
                <a:spcPts val="0"/>
              </a:spcBef>
              <a:spcAft>
                <a:spcPts val="0"/>
              </a:spcAft>
              <a:buClr>
                <a:schemeClr val="dk1"/>
              </a:buClr>
              <a:buSzPts val="2400"/>
              <a:buNone/>
            </a:pPr>
            <a:r>
              <a:rPr lang="en-US" altLang="en-US">
                <a:sym typeface="+mn-ea"/>
              </a:rPr>
              <a:t>•Moamen Othman Abdel Hafeez Othman</a:t>
            </a:r>
            <a:r>
              <a:rPr lang="ar-EG" altLang="en-US">
                <a:sym typeface="+mn-ea"/>
              </a:rPr>
              <a:t>   </a:t>
            </a:r>
            <a:br>
              <a:rPr lang="en-US" altLang="en-US">
                <a:sym typeface="+mn-ea"/>
              </a:rPr>
            </a:br>
            <a:r>
              <a:rPr lang="en-US" altLang="en-US">
                <a:sym typeface="+mn-ea"/>
              </a:rPr>
              <a:t>•Mahmoud Al-Amir Ramadan Suleiman</a:t>
            </a:r>
            <a:endParaRPr lang="en-US" altLang="en-US">
              <a:sym typeface="+mn-ea"/>
            </a:endParaRPr>
          </a:p>
          <a:p>
            <a:pPr marL="0" lvl="0" indent="0" algn="l" rtl="0">
              <a:lnSpc>
                <a:spcPct val="90000"/>
              </a:lnSpc>
              <a:spcBef>
                <a:spcPts val="0"/>
              </a:spcBef>
              <a:spcAft>
                <a:spcPts val="0"/>
              </a:spcAft>
              <a:buClr>
                <a:schemeClr val="dk1"/>
              </a:buClr>
              <a:buSzPts val="2400"/>
              <a:buNone/>
            </a:pPr>
            <a:br>
              <a:rPr lang="en-US" altLang="en-US">
                <a:sym typeface="+mn-ea"/>
              </a:rPr>
            </a:br>
            <a:r>
              <a:rPr lang="en-US" altLang="en-US" sz="2800">
                <a:sym typeface="+mn-ea"/>
              </a:rPr>
              <a:t>Track:</a:t>
            </a:r>
            <a:endParaRPr lang="en-US" altLang="en-US">
              <a:sym typeface="+mn-ea"/>
            </a:endParaRPr>
          </a:p>
          <a:p>
            <a:pPr marL="0" lvl="0" indent="0" algn="l" rtl="0">
              <a:lnSpc>
                <a:spcPct val="90000"/>
              </a:lnSpc>
              <a:spcBef>
                <a:spcPts val="0"/>
              </a:spcBef>
              <a:spcAft>
                <a:spcPts val="0"/>
              </a:spcAft>
              <a:buClr>
                <a:schemeClr val="dk1"/>
              </a:buClr>
              <a:buSzPts val="2400"/>
              <a:buNone/>
            </a:pPr>
            <a:r>
              <a:rPr lang="en-US" altLang="en-US">
                <a:sym typeface="+mn-ea"/>
              </a:rPr>
              <a:t> Data Analysis using Power BI</a:t>
            </a:r>
            <a:endParaRPr lang="en-US" altLang="en-US"/>
          </a:p>
        </p:txBody>
      </p:sp>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63" name="Google Shape;163;p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pic>
        <p:nvPicPr>
          <p:cNvPr id="174" name="Google Shape;174;p7" descr="C:/Users/h/Downloads/WhatsApp Image 2026-07-01 at 9.45.26 AM.jpegWhatsApp Image 2026-07-01 at 9.45.26 AM"/>
          <p:cNvPicPr preferRelativeResize="0"/>
          <p:nvPr/>
        </p:nvPicPr>
        <p:blipFill rotWithShape="1">
          <a:blip r:embed="rId2"/>
          <a:srcRect t="3782" b="15845"/>
          <a:stretch>
            <a:fillRect/>
          </a:stretch>
        </p:blipFill>
        <p:spPr>
          <a:xfrm>
            <a:off x="7208520" y="1997075"/>
            <a:ext cx="4605655" cy="3800475"/>
          </a:xfrm>
          <a:prstGeom prst="roundRect">
            <a:avLst>
              <a:gd name="adj" fmla="val 4167"/>
            </a:avLst>
          </a:prstGeom>
          <a:solidFill>
            <a:srgbClr val="FFFFFF"/>
          </a:solidFill>
          <a:ln w="76200" cap="sq" cmpd="sng">
            <a:solidFill>
              <a:srgbClr val="336EA8"/>
            </a:solidFill>
            <a:prstDash val="solid"/>
            <a:miter lim="800000"/>
            <a:headEnd type="none" w="sm" len="sm"/>
            <a:tailEnd type="none" w="sm" len="sm"/>
          </a:ln>
          <a:effectLst>
            <a:reflection stA="28000" endPos="28000" dist="5000" dir="5400000"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0" y="1285875"/>
            <a:ext cx="6559550" cy="4448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3200"/>
              <a:t>Project Idea</a:t>
            </a:r>
            <a:br>
              <a:rPr lang="en-US" altLang="en-US" sz="3200"/>
            </a:br>
            <a:br>
              <a:rPr lang="en-US" altLang="en-US" sz="2400"/>
            </a:br>
            <a:r>
              <a:rPr lang="en-US" altLang="en-US" sz="2800"/>
              <a:t>Business Problem</a:t>
            </a:r>
            <a:br>
              <a:rPr lang="en-US" altLang="en-US" sz="2400"/>
            </a:br>
            <a:br>
              <a:rPr lang="en-US" altLang="en-US" sz="2400"/>
            </a:br>
            <a:r>
              <a:rPr lang="en-US" altLang="en-US" sz="2400"/>
              <a:t>Pharmaceutical companies generate thousands of sales transactions across different pharmacies, products, and regions. However, analyzing this large amount of data manually is time-consuming and makes it difficult to identify sales trends, profitability, and business opportunities.</a:t>
            </a:r>
            <a:endParaRPr lang="en-US" altLang="en-US" sz="2400"/>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82" name="Google Shape;182;p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0" y="1285875"/>
            <a:ext cx="6559550" cy="4448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3200"/>
              <a:t>Project Idea</a:t>
            </a:r>
            <a:br>
              <a:rPr lang="en-US" altLang="en-US" sz="3200"/>
            </a:br>
            <a:br>
              <a:rPr lang="en-US" altLang="en-US" sz="2400"/>
            </a:br>
            <a:r>
              <a:rPr lang="en-US" altLang="en-US" sz="2800"/>
              <a:t>Proposed Solution</a:t>
            </a:r>
            <a:br>
              <a:rPr lang="en-US" altLang="en-US" sz="2400"/>
            </a:br>
            <a:br>
              <a:rPr lang="en-US" altLang="en-US" sz="2400"/>
            </a:br>
            <a:r>
              <a:rPr lang="en-US" altLang="en-US" sz="2400"/>
              <a:t>Develop an interactive Power BI dashboard that provides real-time business insights through KPIs, dynamic visualizations, and advanced analytics to support decision-making.</a:t>
            </a:r>
            <a:endParaRPr lang="en-US" altLang="en-US" sz="2400"/>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82" name="Google Shape;182;p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0" y="1285875"/>
            <a:ext cx="6559550" cy="4448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3200"/>
              <a:t>Project Idea</a:t>
            </a:r>
            <a:br>
              <a:rPr lang="en-US" altLang="en-US" sz="3200"/>
            </a:br>
            <a:br>
              <a:rPr lang="en-US" altLang="en-US" sz="2400"/>
            </a:br>
            <a:r>
              <a:rPr lang="en-US" altLang="en-US" sz="2800"/>
              <a:t>Business Problem</a:t>
            </a:r>
            <a:br>
              <a:rPr lang="en-US" altLang="en-US" sz="2400"/>
            </a:br>
            <a:br>
              <a:rPr lang="en-US" altLang="en-US" sz="2400"/>
            </a:br>
            <a:r>
              <a:rPr lang="en-US" altLang="en-US" sz="2400"/>
              <a:t>Pharmaceutical companies generate thousands of sales transactions across different pharmacies, products, and regions. However, analyzing this large amount of data manually is time-consuming and makes it difficult to identify sales trends, profitability, and business opportunities.</a:t>
            </a:r>
            <a:endParaRPr lang="en-US" altLang="en-US" sz="2400"/>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82" name="Google Shape;182;p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50165" y="1285875"/>
            <a:ext cx="6559550" cy="4448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3200"/>
              <a:t>Project Idea</a:t>
            </a:r>
            <a:br>
              <a:rPr lang="en-US" altLang="en-US" sz="3200"/>
            </a:br>
            <a:br>
              <a:rPr lang="en-US" altLang="en-US" sz="2400"/>
            </a:br>
            <a:r>
              <a:rPr lang="en-US" altLang="en-US" sz="2800"/>
              <a:t>Unique Value Proposition</a:t>
            </a:r>
            <a:br>
              <a:rPr lang="en-US" altLang="en-US" sz="2800"/>
            </a:br>
            <a:br>
              <a:rPr lang="en-US" altLang="en-US" sz="2400"/>
            </a:br>
            <a:r>
              <a:rPr lang="en-US" altLang="en-US" sz="2400"/>
              <a:t>Interactive dashboards</a:t>
            </a:r>
            <a:br>
              <a:rPr lang="en-US" altLang="en-US" sz="2400"/>
            </a:br>
            <a:r>
              <a:rPr lang="en-US" altLang="en-US" sz="2400"/>
              <a:t>Business-focused KPIs</a:t>
            </a:r>
            <a:br>
              <a:rPr lang="en-US" altLang="en-US" sz="2400"/>
            </a:br>
            <a:r>
              <a:rPr lang="en-US" altLang="en-US" sz="2400"/>
              <a:t>Product profitability analysis</a:t>
            </a:r>
            <a:br>
              <a:rPr lang="en-US" altLang="en-US" sz="2400"/>
            </a:br>
            <a:r>
              <a:rPr lang="en-US" altLang="en-US" sz="2400"/>
              <a:t>Pharmacy performance analysis</a:t>
            </a:r>
            <a:br>
              <a:rPr lang="en-US" altLang="en-US" sz="2400"/>
            </a:br>
            <a:r>
              <a:rPr lang="en-US" altLang="en-US" sz="2400"/>
              <a:t>Promotion effectiveness analysis</a:t>
            </a:r>
            <a:br>
              <a:rPr lang="en-US" altLang="en-US" sz="2400"/>
            </a:br>
            <a:r>
              <a:rPr lang="en-US" altLang="en-US" sz="2400"/>
              <a:t>Dynamic filtering and drill-down capabilities</a:t>
            </a:r>
            <a:endParaRPr lang="en-US" altLang="en-US" sz="2400"/>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82" name="Google Shape;182;p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0" y="0"/>
            <a:ext cx="7815580" cy="753554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3200"/>
              <a:t>Project Wireframe</a:t>
            </a:r>
            <a:br>
              <a:rPr lang="en-US" altLang="en-US" sz="3200"/>
            </a:br>
            <a:r>
              <a:rPr lang="en-US" altLang="en-US" sz="2800">
                <a:sym typeface="+mn-ea"/>
              </a:rPr>
              <a:t>•</a:t>
            </a:r>
            <a:r>
              <a:rPr lang="en-US" altLang="en-US" sz="2800"/>
              <a:t>Dashboard Structure</a:t>
            </a:r>
            <a:br>
              <a:rPr lang="en-US" altLang="en-US" sz="2400"/>
            </a:br>
            <a:r>
              <a:rPr lang="en-US" altLang="en-US" sz="2400"/>
              <a:t>The solution consists of four interactive dashboard pages:</a:t>
            </a:r>
            <a:br>
              <a:rPr lang="en-US" altLang="en-US" sz="2400"/>
            </a:br>
            <a:r>
              <a:rPr lang="en-US" altLang="en-US" sz="2800">
                <a:sym typeface="+mn-ea"/>
              </a:rPr>
              <a:t>•</a:t>
            </a:r>
            <a:r>
              <a:rPr lang="en-US" altLang="en-US" sz="2800"/>
              <a:t>Executive Dashboard</a:t>
            </a:r>
            <a:br>
              <a:rPr lang="en-US" altLang="en-US" sz="2400"/>
            </a:br>
            <a:r>
              <a:rPr lang="en-US" altLang="en-US" sz="2400"/>
              <a:t>Provides an overview of overall business performance through KPIs and sales trends.</a:t>
            </a:r>
            <a:br>
              <a:rPr lang="en-US" altLang="en-US" sz="2400"/>
            </a:br>
            <a:r>
              <a:rPr lang="en-US" altLang="en-US" sz="2800">
                <a:sym typeface="+mn-ea"/>
              </a:rPr>
              <a:t>•</a:t>
            </a:r>
            <a:r>
              <a:rPr lang="en-US" altLang="en-US" sz="2800"/>
              <a:t>Medication Details</a:t>
            </a:r>
            <a:br>
              <a:rPr lang="en-US" altLang="en-US" sz="2400"/>
            </a:br>
            <a:r>
              <a:rPr lang="en-US" altLang="en-US" sz="2400"/>
              <a:t>Displays detailed information about pharmaceutical products.</a:t>
            </a:r>
            <a:br>
              <a:rPr lang="en-US" altLang="en-US" sz="2400"/>
            </a:br>
            <a:r>
              <a:rPr lang="en-US" altLang="en-US" sz="2800">
                <a:sym typeface="+mn-ea"/>
              </a:rPr>
              <a:t>•</a:t>
            </a:r>
            <a:r>
              <a:rPr lang="en-US" altLang="en-US" sz="2800"/>
              <a:t>Product &amp; Pharmacy Analytics</a:t>
            </a:r>
            <a:br>
              <a:rPr lang="en-US" altLang="en-US" sz="2400"/>
            </a:br>
            <a:r>
              <a:rPr lang="en-US" altLang="en-US" sz="2400"/>
              <a:t>Analyzes product performance and compares pharmacies across different regions.</a:t>
            </a:r>
            <a:br>
              <a:rPr lang="en-US" altLang="en-US" sz="2400"/>
            </a:br>
            <a:r>
              <a:rPr lang="en-US" altLang="en-US" sz="2800">
                <a:sym typeface="+mn-ea"/>
              </a:rPr>
              <a:t>•</a:t>
            </a:r>
            <a:r>
              <a:rPr lang="en-US" altLang="en-US" sz="2800"/>
              <a:t>Business Problems &amp; Opportunities</a:t>
            </a:r>
            <a:br>
              <a:rPr lang="en-US" altLang="en-US" sz="2400"/>
            </a:br>
            <a:r>
              <a:rPr lang="en-US" altLang="en-US" sz="2400"/>
              <a:t>Identifies low-profit products, promotion effectiveness, and improvement opportunities.</a:t>
            </a:r>
            <a:endParaRPr lang="en-US" altLang="en-US" sz="2400"/>
          </a:p>
        </p:txBody>
      </p:sp>
      <p:sp>
        <p:nvSpPr>
          <p:cNvPr id="192" name="Google Shape;19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93" name="Google Shape;193;p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94" name="Google Shape;19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172720" y="1155700"/>
            <a:ext cx="8937625" cy="523303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3200"/>
              <a:t>Dashboard Navigation</a:t>
            </a:r>
            <a:br>
              <a:rPr lang="en-US" altLang="en-US" sz="2400"/>
            </a:br>
            <a:br>
              <a:rPr lang="en-US" altLang="en-US" sz="2400"/>
            </a:br>
            <a:r>
              <a:rPr lang="en-US" altLang="en-US" sz="2400"/>
              <a:t>Executive Dashboard</a:t>
            </a:r>
            <a:br>
              <a:rPr lang="en-US" altLang="en-US" sz="2400"/>
            </a:br>
            <a:r>
              <a:rPr lang="en-US" altLang="en-US" sz="2400"/>
              <a:t>↓</a:t>
            </a:r>
            <a:br>
              <a:rPr lang="en-US" altLang="en-US" sz="2400"/>
            </a:br>
            <a:r>
              <a:rPr lang="en-US" altLang="en-US" sz="2400"/>
              <a:t>Product &amp; Pharmacy Analytics</a:t>
            </a:r>
            <a:br>
              <a:rPr lang="en-US" altLang="en-US" sz="2400"/>
            </a:br>
            <a:r>
              <a:rPr lang="en-US" altLang="en-US" sz="2400"/>
              <a:t>↓</a:t>
            </a:r>
            <a:br>
              <a:rPr lang="en-US" altLang="en-US" sz="2400"/>
            </a:br>
            <a:r>
              <a:rPr lang="en-US" altLang="en-US" sz="2400"/>
              <a:t>Medication Details</a:t>
            </a:r>
            <a:br>
              <a:rPr lang="en-US" altLang="en-US" sz="2400"/>
            </a:br>
            <a:r>
              <a:rPr lang="en-US" altLang="en-US" sz="2400"/>
              <a:t>↓</a:t>
            </a:r>
            <a:br>
              <a:rPr lang="en-US" altLang="en-US" sz="2400"/>
            </a:br>
            <a:r>
              <a:rPr lang="en-US" altLang="en-US" sz="2400"/>
              <a:t>Business Problems &amp; Opportunities</a:t>
            </a:r>
            <a:br>
              <a:rPr lang="en-US" altLang="en-US" sz="2400"/>
            </a:br>
            <a:br>
              <a:rPr lang="en-US" altLang="en-US" sz="2400"/>
            </a:br>
            <a:r>
              <a:rPr lang="en-US" altLang="en-US" sz="3200"/>
              <a:t>User Experience</a:t>
            </a:r>
            <a:br>
              <a:rPr lang="en-US" altLang="en-US" sz="2400"/>
            </a:br>
            <a:r>
              <a:rPr lang="en-US" altLang="en-US" sz="2400">
                <a:sym typeface="+mn-ea"/>
              </a:rPr>
              <a:t>•</a:t>
            </a:r>
            <a:r>
              <a:rPr lang="en-US" altLang="en-US" sz="2400"/>
              <a:t>Easy navigation</a:t>
            </a:r>
            <a:br>
              <a:rPr lang="en-US" altLang="en-US" sz="2400"/>
            </a:br>
            <a:r>
              <a:rPr lang="en-US" altLang="en-US" sz="2400">
                <a:sym typeface="+mn-ea"/>
              </a:rPr>
              <a:t>•</a:t>
            </a:r>
            <a:r>
              <a:rPr lang="en-US" altLang="en-US" sz="2400"/>
              <a:t>Interactive slicers</a:t>
            </a:r>
            <a:br>
              <a:rPr lang="en-US" altLang="en-US" sz="2400"/>
            </a:br>
            <a:r>
              <a:rPr lang="en-US" altLang="en-US" sz="2400">
                <a:sym typeface="+mn-ea"/>
              </a:rPr>
              <a:t>•</a:t>
            </a:r>
            <a:r>
              <a:rPr lang="en-US" altLang="en-US" sz="2400"/>
              <a:t>Responsive visualizations</a:t>
            </a:r>
            <a:br>
              <a:rPr lang="en-US" altLang="en-US" sz="2400"/>
            </a:br>
            <a:r>
              <a:rPr lang="en-US" altLang="en-US" sz="2400">
                <a:sym typeface="+mn-ea"/>
              </a:rPr>
              <a:t>•</a:t>
            </a:r>
            <a:r>
              <a:rPr lang="en-US" altLang="en-US" sz="2400"/>
              <a:t>Clear KPI presentation</a:t>
            </a:r>
            <a:br>
              <a:rPr lang="en-US" altLang="en-US" sz="2400"/>
            </a:br>
            <a:r>
              <a:rPr lang="en-US" altLang="en-US" sz="2400">
                <a:sym typeface="+mn-ea"/>
              </a:rPr>
              <a:t>•</a:t>
            </a:r>
            <a:r>
              <a:rPr lang="en-US" altLang="en-US" sz="2400"/>
              <a:t>Business-oriented insights</a:t>
            </a:r>
            <a:endParaRPr lang="en-US" altLang="en-US" sz="2400"/>
          </a:p>
        </p:txBody>
      </p:sp>
      <p:sp>
        <p:nvSpPr>
          <p:cNvPr id="192" name="Google Shape;19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93" name="Google Shape;193;p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94" name="Google Shape;19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5195570" y="-607060"/>
            <a:ext cx="7736205" cy="799719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2800"/>
              <a:t>Revenue Forecast</a:t>
            </a:r>
            <a:br>
              <a:rPr lang="en-US" altLang="en-US" sz="2800"/>
            </a:br>
            <a:br>
              <a:rPr lang="en-US" altLang="en-US" sz="2800"/>
            </a:br>
            <a:r>
              <a:rPr lang="en-US" altLang="en-US" sz="2800"/>
              <a:t>Purpose</a:t>
            </a:r>
            <a:br>
              <a:rPr lang="en-US" altLang="en-US" sz="2400"/>
            </a:br>
            <a:r>
              <a:rPr lang="en-US" altLang="en-US" sz="2400"/>
              <a:t>Predict future revenue based on historical sales data.</a:t>
            </a:r>
            <a:br>
              <a:rPr lang="en-US" altLang="en-US" sz="2400"/>
            </a:br>
            <a:br>
              <a:rPr lang="en-US" altLang="en-US" sz="2400"/>
            </a:br>
            <a:r>
              <a:rPr lang="en-US" altLang="en-US" sz="2400"/>
              <a:t>Key Insight</a:t>
            </a:r>
            <a:br>
              <a:rPr lang="en-US" altLang="en-US" sz="2400"/>
            </a:br>
            <a:br>
              <a:rPr lang="en-US" altLang="en-US" sz="2400"/>
            </a:br>
            <a:r>
              <a:rPr lang="en-US" altLang="en-US" sz="2400"/>
              <a:t>Revenue is expected to remain stable over the next six months with normal fluctuations.</a:t>
            </a:r>
            <a:br>
              <a:rPr lang="en-US" altLang="en-US" sz="2400"/>
            </a:br>
            <a:br>
              <a:rPr lang="en-US" altLang="en-US" sz="2400"/>
            </a:br>
            <a:r>
              <a:rPr lang="en-US" altLang="en-US" sz="2400"/>
              <a:t>Business Value</a:t>
            </a:r>
            <a:br>
              <a:rPr lang="en-US" altLang="en-US" sz="2400"/>
            </a:br>
            <a:br>
              <a:rPr lang="en-US" altLang="en-US" sz="2400"/>
            </a:br>
            <a:r>
              <a:rPr lang="en-US" altLang="en-US" sz="2400"/>
              <a:t>Supports budgeting, inventory planning, and strategic decision-making.</a:t>
            </a:r>
            <a:endParaRPr lang="en-US" altLang="en-US" sz="2400"/>
          </a:p>
        </p:txBody>
      </p:sp>
      <p:sp>
        <p:nvSpPr>
          <p:cNvPr id="192" name="Google Shape;19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93" name="Google Shape;193;p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94" name="Google Shape;19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195" name="Google Shape;195;p9" descr="C:/Users/h/Downloads/Screenshot 2026-07-02 232851.pngScreenshot 2026-07-02 232851"/>
          <p:cNvPicPr preferRelativeResize="0"/>
          <p:nvPr/>
        </p:nvPicPr>
        <p:blipFill rotWithShape="1">
          <a:blip r:embed="rId1"/>
          <a:srcRect l="-838" r="2203"/>
          <a:stretch>
            <a:fillRect/>
          </a:stretch>
        </p:blipFill>
        <p:spPr>
          <a:xfrm>
            <a:off x="90170" y="1739900"/>
            <a:ext cx="4841240" cy="3378835"/>
          </a:xfrm>
          <a:prstGeom prst="snip2DiagRect">
            <a:avLst>
              <a:gd name="adj1" fmla="val 0"/>
              <a:gd name="adj2" fmla="val 16667"/>
            </a:avLst>
          </a:prstGeom>
          <a:solidFill>
            <a:srgbClr val="ECECEC"/>
          </a:solidFill>
          <a:ln w="88900" cap="sq" cmpd="sng">
            <a:solidFill>
              <a:srgbClr val="336EA8"/>
            </a:solidFill>
            <a:prstDash val="solid"/>
            <a:miter lim="800000"/>
            <a:headEnd type="none" w="sm" len="sm"/>
            <a:tailEnd type="none" w="sm" len="sm"/>
          </a:ln>
          <a:effectLst>
            <a:outerShdw blurRad="88900" algn="tl" rotWithShape="0">
              <a:srgbClr val="000000">
                <a:alpha val="44705"/>
              </a:srgbClr>
            </a:outerShdw>
          </a:effectLst>
        </p:spPr>
      </p:pic>
      <p:pic>
        <p:nvPicPr>
          <p:cNvPr id="2" name="Google Shape;110;p1"/>
          <p:cNvPicPr preferRelativeResize="0"/>
          <p:nvPr/>
        </p:nvPicPr>
        <p:blipFill>
          <a:blip r:embed="rId2"/>
          <a:srcRect/>
          <a:stretch>
            <a:fillRect/>
          </a:stretch>
        </p:blipFill>
        <p:spPr>
          <a:xfrm>
            <a:off x="9010943" y="6291124"/>
            <a:ext cx="1362250" cy="365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4305935" y="-607060"/>
            <a:ext cx="7736205" cy="799719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2400"/>
              <a:t>Revenue vs Profit</a:t>
            </a:r>
            <a:br>
              <a:rPr lang="en-US" altLang="en-US" sz="2400"/>
            </a:br>
            <a:r>
              <a:rPr lang="en-US" altLang="en-US" sz="2400"/>
              <a:t>Purpose</a:t>
            </a:r>
            <a:br>
              <a:rPr lang="en-US" altLang="en-US" sz="2400"/>
            </a:br>
            <a:br>
              <a:rPr lang="en-US" altLang="en-US" sz="2400"/>
            </a:br>
            <a:r>
              <a:rPr lang="en-US" altLang="en-US" sz="2400"/>
              <a:t>Analyze the relationship between revenue and profit.</a:t>
            </a:r>
            <a:br>
              <a:rPr lang="en-US" altLang="en-US" sz="2400"/>
            </a:br>
            <a:br>
              <a:rPr lang="en-US" altLang="en-US" sz="2400"/>
            </a:br>
            <a:r>
              <a:rPr lang="en-US" altLang="en-US" sz="2400"/>
              <a:t>Key Insight</a:t>
            </a:r>
            <a:br>
              <a:rPr lang="en-US" altLang="en-US" sz="2400"/>
            </a:br>
            <a:br>
              <a:rPr lang="en-US" altLang="en-US" sz="2400"/>
            </a:br>
            <a:r>
              <a:rPr lang="en-US" altLang="en-US" sz="2400"/>
              <a:t>Higher revenue generally leads to higher profit, with a few outstanding high-performing sales.</a:t>
            </a:r>
            <a:br>
              <a:rPr lang="en-US" altLang="en-US" sz="2400"/>
            </a:br>
            <a:br>
              <a:rPr lang="en-US" altLang="en-US" sz="2400"/>
            </a:br>
            <a:r>
              <a:rPr lang="en-US" altLang="en-US" sz="2400"/>
              <a:t>Business Value</a:t>
            </a:r>
            <a:br>
              <a:rPr lang="en-US" altLang="en-US" sz="2400"/>
            </a:br>
            <a:br>
              <a:rPr lang="en-US" altLang="en-US" sz="2400"/>
            </a:br>
            <a:r>
              <a:rPr lang="en-US" altLang="en-US" sz="2400"/>
              <a:t>Helps identify profitable products and business opportunities.</a:t>
            </a:r>
            <a:endParaRPr lang="en-US" altLang="en-US" sz="2400"/>
          </a:p>
        </p:txBody>
      </p:sp>
      <p:sp>
        <p:nvSpPr>
          <p:cNvPr id="192" name="Google Shape;19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93" name="Google Shape;193;p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94" name="Google Shape;19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pic>
        <p:nvPicPr>
          <p:cNvPr id="3" name="Google Shape;195;p9" descr="C:/Users/h/Downloads/Screenshot 2026-07-02 232728.pngScreenshot 2026-07-02 232728"/>
          <p:cNvPicPr preferRelativeResize="0"/>
          <p:nvPr/>
        </p:nvPicPr>
        <p:blipFill rotWithShape="1">
          <a:blip r:embed="rId2"/>
          <a:srcRect l="526" r="5726"/>
          <a:stretch>
            <a:fillRect/>
          </a:stretch>
        </p:blipFill>
        <p:spPr>
          <a:xfrm>
            <a:off x="145415" y="1840865"/>
            <a:ext cx="3964305" cy="3084195"/>
          </a:xfrm>
          <a:prstGeom prst="snip2DiagRect">
            <a:avLst>
              <a:gd name="adj1" fmla="val 0"/>
              <a:gd name="adj2" fmla="val 16667"/>
            </a:avLst>
          </a:prstGeom>
          <a:solidFill>
            <a:srgbClr val="ECECEC"/>
          </a:solidFill>
          <a:ln w="88900" cap="sq" cmpd="sng">
            <a:solidFill>
              <a:srgbClr val="336EA8"/>
            </a:solidFill>
            <a:prstDash val="solid"/>
            <a:miter lim="800000"/>
            <a:headEnd type="none" w="sm" len="sm"/>
            <a:tailEnd type="none" w="sm" len="sm"/>
          </a:ln>
          <a:effectLst>
            <a:outerShdw blurRad="88900" algn="tl" rotWithShape="0">
              <a:srgbClr val="000000">
                <a:alpha val="44705"/>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4305935" y="-607060"/>
            <a:ext cx="7736205" cy="799719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2400"/>
              <a:t>Profit Margin by Category</a:t>
            </a:r>
            <a:br>
              <a:rPr lang="en-US" altLang="en-US" sz="2400"/>
            </a:br>
            <a:r>
              <a:rPr lang="en-US" altLang="en-US" sz="2400"/>
              <a:t>Purpose</a:t>
            </a:r>
            <a:br>
              <a:rPr lang="en-US" altLang="en-US" sz="2400"/>
            </a:br>
            <a:br>
              <a:rPr lang="en-US" altLang="en-US" sz="2400"/>
            </a:br>
            <a:r>
              <a:rPr lang="en-US" altLang="en-US" sz="2400"/>
              <a:t>Compare profit margins across product categories.</a:t>
            </a:r>
            <a:br>
              <a:rPr lang="en-US" altLang="en-US" sz="2400"/>
            </a:br>
            <a:br>
              <a:rPr lang="en-US" altLang="en-US" sz="2400"/>
            </a:br>
            <a:r>
              <a:rPr lang="en-US" altLang="en-US" sz="2400"/>
              <a:t>Key Insight</a:t>
            </a:r>
            <a:br>
              <a:rPr lang="en-US" altLang="en-US" sz="2400"/>
            </a:br>
            <a:br>
              <a:rPr lang="en-US" altLang="en-US" sz="2400"/>
            </a:br>
            <a:r>
              <a:rPr lang="en-US" altLang="en-US" sz="2400"/>
              <a:t>Wellness and Personal Care generate the highest profit contribution.</a:t>
            </a:r>
            <a:br>
              <a:rPr lang="en-US" altLang="en-US" sz="2400"/>
            </a:br>
            <a:br>
              <a:rPr lang="en-US" altLang="en-US" sz="2400"/>
            </a:br>
            <a:r>
              <a:rPr lang="en-US" altLang="en-US" sz="2400"/>
              <a:t>Business Value</a:t>
            </a:r>
            <a:br>
              <a:rPr lang="en-US" altLang="en-US" sz="2400"/>
            </a:br>
            <a:br>
              <a:rPr lang="en-US" altLang="en-US" sz="2400"/>
            </a:br>
            <a:r>
              <a:rPr lang="en-US" altLang="en-US" sz="2400"/>
              <a:t>Supports pricing, marketing, and product portfolio decisions.</a:t>
            </a:r>
            <a:endParaRPr lang="en-US" altLang="en-US" sz="2400"/>
          </a:p>
        </p:txBody>
      </p:sp>
      <p:sp>
        <p:nvSpPr>
          <p:cNvPr id="192" name="Google Shape;19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93" name="Google Shape;193;p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194" name="Google Shape;19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pic>
        <p:nvPicPr>
          <p:cNvPr id="3" name="Google Shape;195;p9" descr="C:/Users/h/Downloads/Screenshot 2026-07-02 235300.pngScreenshot 2026-07-02 235300"/>
          <p:cNvPicPr preferRelativeResize="0"/>
          <p:nvPr/>
        </p:nvPicPr>
        <p:blipFill rotWithShape="1">
          <a:blip r:embed="rId2"/>
          <a:srcRect l="251" t="1251" r="6358"/>
          <a:stretch>
            <a:fillRect/>
          </a:stretch>
        </p:blipFill>
        <p:spPr>
          <a:xfrm>
            <a:off x="172085" y="1869440"/>
            <a:ext cx="3937635" cy="3357245"/>
          </a:xfrm>
          <a:prstGeom prst="snip2DiagRect">
            <a:avLst>
              <a:gd name="adj1" fmla="val 0"/>
              <a:gd name="adj2" fmla="val 16667"/>
            </a:avLst>
          </a:prstGeom>
          <a:solidFill>
            <a:srgbClr val="ECECEC"/>
          </a:solidFill>
          <a:ln w="88900" cap="sq" cmpd="sng">
            <a:solidFill>
              <a:srgbClr val="336EA8"/>
            </a:solidFill>
            <a:prstDash val="solid"/>
            <a:miter lim="800000"/>
            <a:headEnd type="none" w="sm" len="sm"/>
            <a:tailEnd type="none" w="sm" len="sm"/>
          </a:ln>
          <a:effectLst>
            <a:outerShdw blurRad="88900" algn="tl" rotWithShape="0">
              <a:srgbClr val="000000">
                <a:alpha val="44705"/>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0" y="1239520"/>
            <a:ext cx="5933440" cy="56184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3200"/>
              <a:t>End Users &amp; Features</a:t>
            </a:r>
            <a:br>
              <a:rPr lang="en-US" altLang="en-US" sz="2400"/>
            </a:br>
            <a:r>
              <a:rPr lang="en-US" altLang="en-US" sz="3110"/>
              <a:t>Target Users</a:t>
            </a:r>
            <a:br>
              <a:rPr lang="en-US" altLang="en-US" sz="2400"/>
            </a:br>
            <a:r>
              <a:rPr lang="en-US" altLang="en-US" sz="3110"/>
              <a:t>Sales Manager</a:t>
            </a:r>
            <a:br>
              <a:rPr lang="en-US" altLang="en-US" sz="2400"/>
            </a:br>
            <a:r>
              <a:rPr lang="en-US" altLang="en-US" sz="2665"/>
              <a:t>Monitor revenue and profitability</a:t>
            </a:r>
            <a:br>
              <a:rPr lang="en-US" altLang="en-US" sz="2665"/>
            </a:br>
            <a:r>
              <a:rPr lang="en-US" altLang="en-US" sz="2665"/>
              <a:t>Track monthly sales trends</a:t>
            </a:r>
            <a:br>
              <a:rPr lang="en-US" altLang="en-US" sz="2400"/>
            </a:br>
            <a:r>
              <a:rPr lang="en-US" altLang="en-US" sz="3110"/>
              <a:t>Product Manager</a:t>
            </a:r>
            <a:br>
              <a:rPr lang="en-US" altLang="en-US" sz="2400"/>
            </a:br>
            <a:r>
              <a:rPr lang="en-US" altLang="en-US" sz="2665"/>
              <a:t>Analyze product performance</a:t>
            </a:r>
            <a:br>
              <a:rPr lang="en-US" altLang="en-US" sz="2665"/>
            </a:br>
            <a:r>
              <a:rPr lang="en-US" altLang="en-US" sz="2665"/>
              <a:t>Identify top and low-performing products</a:t>
            </a:r>
            <a:br>
              <a:rPr lang="en-US" altLang="en-US" sz="2665"/>
            </a:br>
            <a:r>
              <a:rPr lang="en-US" altLang="en-US" sz="3110"/>
              <a:t>Regional Manager</a:t>
            </a:r>
            <a:br>
              <a:rPr lang="en-US" altLang="en-US" sz="2665"/>
            </a:br>
            <a:r>
              <a:rPr lang="en-US" altLang="en-US" sz="2665"/>
              <a:t>Compare pharmacy performance</a:t>
            </a:r>
            <a:br>
              <a:rPr lang="en-US" altLang="en-US" sz="2665"/>
            </a:br>
            <a:r>
              <a:rPr lang="en-US" altLang="en-US" sz="2665"/>
              <a:t>Monitor regional sales</a:t>
            </a:r>
            <a:br>
              <a:rPr lang="en-US" altLang="en-US" sz="2400"/>
            </a:br>
            <a:br>
              <a:rPr lang="en-US" altLang="en-US" sz="2400"/>
            </a:br>
            <a:endParaRPr lang="en-US" altLang="en-US" sz="2665"/>
          </a:p>
        </p:txBody>
      </p:sp>
      <p:sp>
        <p:nvSpPr>
          <p:cNvPr id="181" name="Google Shape;18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
        <p:nvSpPr>
          <p:cNvPr id="3" name="Text Box 2"/>
          <p:cNvSpPr txBox="1"/>
          <p:nvPr/>
        </p:nvSpPr>
        <p:spPr>
          <a:xfrm>
            <a:off x="5934075" y="1439545"/>
            <a:ext cx="7270750" cy="4851400"/>
          </a:xfrm>
          <a:prstGeom prst="rect">
            <a:avLst/>
          </a:prstGeom>
          <a:noFill/>
        </p:spPr>
        <p:txBody>
          <a:bodyPr wrap="square" rtlCol="0">
            <a:noAutofit/>
          </a:bodyPr>
          <a:p>
            <a:pPr marL="0" lvl="0" indent="0" algn="l" rtl="0">
              <a:lnSpc>
                <a:spcPct val="90000"/>
              </a:lnSpc>
              <a:spcBef>
                <a:spcPts val="0"/>
              </a:spcBef>
              <a:spcAft>
                <a:spcPts val="0"/>
              </a:spcAft>
              <a:buClr>
                <a:schemeClr val="dk1"/>
              </a:buClr>
              <a:buSzPts val="4400"/>
              <a:buFont typeface="Calibri" panose="020F0502020204030204"/>
              <a:buNone/>
            </a:pPr>
            <a:br>
              <a:rPr lang="en-US" altLang="en-US" sz="2400">
                <a:sym typeface="+mn-ea"/>
              </a:rPr>
            </a:br>
            <a:r>
              <a:rPr lang="en-US" altLang="en-US" sz="2400">
                <a:sym typeface="+mn-ea"/>
              </a:rPr>
              <a:t>Key Features</a:t>
            </a:r>
            <a:br>
              <a:rPr lang="en-US" altLang="en-US" sz="2400">
                <a:sym typeface="+mn-ea"/>
              </a:rPr>
            </a:br>
            <a:r>
              <a:rPr lang="en-US" altLang="en-US" sz="2400">
                <a:sym typeface="+mn-ea"/>
              </a:rPr>
              <a:t>KPI Cards</a:t>
            </a:r>
            <a:br>
              <a:rPr lang="en-US" altLang="en-US" sz="2400">
                <a:sym typeface="+mn-ea"/>
              </a:rPr>
            </a:br>
            <a:r>
              <a:rPr lang="en-US" altLang="en-US" sz="2400">
                <a:sym typeface="+mn-ea"/>
              </a:rPr>
              <a:t>Interactive Filters</a:t>
            </a:r>
            <a:br>
              <a:rPr lang="en-US" altLang="en-US" sz="2400">
                <a:sym typeface="+mn-ea"/>
              </a:rPr>
            </a:br>
            <a:r>
              <a:rPr lang="en-US" altLang="en-US" sz="2400">
                <a:sym typeface="+mn-ea"/>
              </a:rPr>
              <a:t>Drill-down Analysis</a:t>
            </a:r>
            <a:br>
              <a:rPr lang="en-US" altLang="en-US" sz="2400">
                <a:sym typeface="+mn-ea"/>
              </a:rPr>
            </a:br>
            <a:r>
              <a:rPr lang="en-US" altLang="en-US" sz="2400">
                <a:sym typeface="+mn-ea"/>
              </a:rPr>
              <a:t>Business Problem Identification</a:t>
            </a:r>
            <a:br>
              <a:rPr lang="en-US" altLang="en-US" sz="2400">
                <a:sym typeface="+mn-ea"/>
              </a:rPr>
            </a:br>
            <a:r>
              <a:rPr lang="en-US" altLang="en-US" sz="2400">
                <a:sym typeface="+mn-ea"/>
              </a:rPr>
              <a:t>Promotion Analysis</a:t>
            </a:r>
            <a:br>
              <a:rPr lang="en-US" altLang="en-US" sz="2400">
                <a:sym typeface="+mn-ea"/>
              </a:rPr>
            </a:br>
            <a:r>
              <a:rPr lang="en-US" altLang="en-US" sz="2400">
                <a:sym typeface="+mn-ea"/>
              </a:rPr>
              <a:t>Geographic Analysis</a:t>
            </a:r>
            <a:endParaRPr 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3482975" y="335280"/>
            <a:ext cx="4093210" cy="602107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2665"/>
              <a:t>Data Structure</a:t>
            </a:r>
            <a:br>
              <a:rPr lang="en-US" altLang="en-US" sz="2665"/>
            </a:br>
            <a:r>
              <a:rPr lang="en-US" altLang="en-US" sz="2665"/>
              <a:t>Data Model</a:t>
            </a:r>
            <a:br>
              <a:rPr lang="en-US" altLang="en-US" sz="2665"/>
            </a:br>
            <a:br>
              <a:rPr lang="en-US" altLang="en-US" sz="2665"/>
            </a:br>
            <a:r>
              <a:rPr lang="en-US" altLang="en-US" sz="2665"/>
              <a:t>The project follows a Star Schema data model.</a:t>
            </a:r>
            <a:br>
              <a:rPr lang="en-US" altLang="en-US" sz="2665"/>
            </a:br>
            <a:br>
              <a:rPr lang="en-US" altLang="en-US" sz="2665"/>
            </a:br>
            <a:r>
              <a:rPr lang="en-US" altLang="en-US" sz="2665"/>
              <a:t>Fact Table</a:t>
            </a:r>
            <a:br>
              <a:rPr lang="en-US" altLang="en-US" sz="2665"/>
            </a:br>
            <a:br>
              <a:rPr lang="en-US" altLang="en-US" sz="2665"/>
            </a:br>
            <a:r>
              <a:rPr lang="en-US" altLang="en-US" sz="2665"/>
              <a:t>T_FactSales</a:t>
            </a:r>
            <a:br>
              <a:rPr lang="en-US" altLang="en-US" sz="2665"/>
            </a:br>
            <a:br>
              <a:rPr lang="en-US" altLang="en-US" sz="2665"/>
            </a:br>
            <a:r>
              <a:rPr lang="en-US" altLang="en-US" sz="2665"/>
              <a:t>Contains:</a:t>
            </a:r>
            <a:br>
              <a:rPr lang="en-US" altLang="en-US" sz="2665"/>
            </a:br>
            <a:br>
              <a:rPr lang="en-US" altLang="en-US" sz="2665"/>
            </a:br>
            <a:r>
              <a:rPr lang="en-US" altLang="en-US" sz="2665"/>
              <a:t>Revenue</a:t>
            </a:r>
            <a:br>
              <a:rPr lang="en-US" altLang="en-US" sz="2665"/>
            </a:br>
            <a:r>
              <a:rPr lang="en-US" altLang="en-US" sz="2665"/>
              <a:t>Cost</a:t>
            </a:r>
            <a:br>
              <a:rPr lang="en-US" altLang="en-US" sz="2665"/>
            </a:br>
            <a:r>
              <a:rPr lang="en-US" altLang="en-US" sz="2665"/>
              <a:t>Margin</a:t>
            </a:r>
            <a:br>
              <a:rPr lang="en-US" altLang="en-US" sz="2665"/>
            </a:br>
            <a:r>
              <a:rPr lang="en-US" altLang="en-US" sz="2665"/>
              <a:t>Units Sold</a:t>
            </a:r>
            <a:br>
              <a:rPr lang="en-US" altLang="en-US" sz="2665"/>
            </a:br>
            <a:r>
              <a:rPr lang="en-US" altLang="en-US" sz="2665"/>
              <a:t>Promotion Flag</a:t>
            </a:r>
            <a:br>
              <a:rPr lang="en-US" altLang="en-US" sz="2665"/>
            </a:br>
            <a:endParaRPr lang="en-US" altLang="en-US" sz="2665"/>
          </a:p>
        </p:txBody>
      </p:sp>
      <p:sp>
        <p:nvSpPr>
          <p:cNvPr id="181" name="Google Shape;181;p8"/>
          <p:cNvSpPr txBox="1">
            <a:spLocks noGrp="1"/>
          </p:cNvSpPr>
          <p:nvPr>
            <p:ph type="dt" idx="10"/>
          </p:nvPr>
        </p:nvSpPr>
        <p:spPr>
          <a:xfrm>
            <a:off x="739775"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539898" y="6355894"/>
            <a:ext cx="1362250" cy="365125"/>
          </a:xfrm>
          <a:prstGeom prst="rect">
            <a:avLst/>
          </a:prstGeom>
          <a:noFill/>
          <a:ln>
            <a:noFill/>
          </a:ln>
        </p:spPr>
      </p:pic>
      <p:sp>
        <p:nvSpPr>
          <p:cNvPr id="5" name="Text Box 4"/>
          <p:cNvSpPr txBox="1"/>
          <p:nvPr/>
        </p:nvSpPr>
        <p:spPr>
          <a:xfrm>
            <a:off x="6916420" y="276860"/>
            <a:ext cx="2762885" cy="7304405"/>
          </a:xfrm>
          <a:prstGeom prst="rect">
            <a:avLst/>
          </a:prstGeom>
          <a:noFill/>
        </p:spPr>
        <p:txBody>
          <a:bodyPr wrap="square" rtlCol="0">
            <a:noAutofit/>
          </a:bodyPr>
          <a:p>
            <a:r>
              <a:rPr lang="en-US" altLang="en-US" sz="2000"/>
              <a:t>Dimension Tables</a:t>
            </a:r>
            <a:endParaRPr lang="en-US" altLang="en-US" sz="2000"/>
          </a:p>
          <a:p>
            <a:endParaRPr lang="en-US" altLang="en-US" sz="2000"/>
          </a:p>
          <a:p>
            <a:r>
              <a:rPr lang="en-US" altLang="en-US" sz="2000"/>
              <a:t>T_DimProduct</a:t>
            </a:r>
            <a:endParaRPr lang="en-US" altLang="en-US" sz="2000"/>
          </a:p>
          <a:p>
            <a:r>
              <a:rPr lang="en-US" altLang="en-US" sz="2000"/>
              <a:t>Product Name</a:t>
            </a:r>
            <a:endParaRPr lang="en-US" altLang="en-US" sz="2000"/>
          </a:p>
          <a:p>
            <a:r>
              <a:rPr lang="en-US" altLang="en-US" sz="2000"/>
              <a:t>Brand</a:t>
            </a:r>
            <a:endParaRPr lang="en-US" altLang="en-US" sz="2000"/>
          </a:p>
          <a:p>
            <a:r>
              <a:rPr lang="en-US" altLang="en-US" sz="2000"/>
              <a:t>Category</a:t>
            </a:r>
            <a:endParaRPr lang="en-US" altLang="en-US" sz="2000"/>
          </a:p>
          <a:p>
            <a:endParaRPr lang="en-US" altLang="en-US" sz="2000"/>
          </a:p>
          <a:p>
            <a:r>
              <a:rPr lang="en-US" altLang="en-US" sz="2000"/>
              <a:t>T_DimPharmacy</a:t>
            </a:r>
            <a:endParaRPr lang="en-US" altLang="en-US" sz="2000"/>
          </a:p>
          <a:p>
            <a:r>
              <a:rPr lang="en-US" altLang="en-US" sz="2000"/>
              <a:t>Pharmacy</a:t>
            </a:r>
            <a:endParaRPr lang="en-US" altLang="en-US" sz="2000"/>
          </a:p>
          <a:p>
            <a:r>
              <a:rPr lang="en-US" altLang="en-US" sz="2000"/>
              <a:t>Region</a:t>
            </a:r>
            <a:endParaRPr lang="en-US" altLang="en-US" sz="2000"/>
          </a:p>
          <a:p>
            <a:endParaRPr lang="en-US" altLang="en-US" sz="2000"/>
          </a:p>
          <a:p>
            <a:r>
              <a:rPr lang="en-US" altLang="en-US" sz="2000"/>
              <a:t>T_DimDate</a:t>
            </a:r>
            <a:endParaRPr lang="en-US" altLang="en-US" sz="2000"/>
          </a:p>
          <a:p>
            <a:r>
              <a:rPr lang="en-US" altLang="en-US" sz="2000"/>
              <a:t>Date</a:t>
            </a:r>
            <a:endParaRPr lang="en-US" altLang="en-US" sz="2000"/>
          </a:p>
          <a:p>
            <a:r>
              <a:rPr lang="en-US" altLang="en-US" sz="2000"/>
              <a:t>Month</a:t>
            </a:r>
            <a:endParaRPr lang="en-US" altLang="en-US" sz="2000"/>
          </a:p>
          <a:p>
            <a:r>
              <a:rPr lang="en-US" altLang="en-US" sz="2000"/>
              <a:t>Quarter</a:t>
            </a:r>
            <a:endParaRPr lang="en-US" altLang="en-US" sz="2000"/>
          </a:p>
          <a:p>
            <a:r>
              <a:rPr lang="en-US" altLang="en-US" sz="2000"/>
              <a:t>Year</a:t>
            </a:r>
            <a:endParaRPr lang="en-US" altLang="en-US" sz="2000"/>
          </a:p>
          <a:p>
            <a:endParaRPr lang="en-US" altLang="en-US" sz="2000"/>
          </a:p>
          <a:p>
            <a:r>
              <a:rPr lang="en-US" altLang="en-US" sz="2000"/>
              <a:t>Medicine_Details</a:t>
            </a:r>
            <a:endParaRPr lang="en-US" altLang="en-US" sz="2000"/>
          </a:p>
          <a:p>
            <a:r>
              <a:rPr lang="en-US" altLang="en-US" sz="2000"/>
              <a:t>Medicine Description</a:t>
            </a:r>
            <a:endParaRPr lang="en-US" altLang="en-US" sz="2000"/>
          </a:p>
          <a:p>
            <a:r>
              <a:rPr lang="en-US" altLang="en-US" sz="2000"/>
              <a:t>Manufacturer</a:t>
            </a:r>
            <a:endParaRPr lang="en-US" altLang="en-US" sz="2000"/>
          </a:p>
          <a:p>
            <a:r>
              <a:rPr lang="en-US" altLang="en-US" sz="2000"/>
              <a:t>Medical Information</a:t>
            </a:r>
            <a:endParaRPr lang="en-US" altLang="en-US" sz="2000"/>
          </a:p>
        </p:txBody>
      </p:sp>
      <p:sp>
        <p:nvSpPr>
          <p:cNvPr id="6" name="Text Box 5"/>
          <p:cNvSpPr txBox="1"/>
          <p:nvPr/>
        </p:nvSpPr>
        <p:spPr>
          <a:xfrm>
            <a:off x="0" y="2146300"/>
            <a:ext cx="2895600" cy="1635125"/>
          </a:xfrm>
          <a:prstGeom prst="rect">
            <a:avLst/>
          </a:prstGeom>
          <a:noFill/>
        </p:spPr>
        <p:txBody>
          <a:bodyPr wrap="square" rtlCol="0">
            <a:noAutofit/>
          </a:bodyPr>
          <a:p>
            <a:r>
              <a:rPr lang="en-US" altLang="en-US" sz="2000"/>
              <a:t>Benefits</a:t>
            </a:r>
            <a:endParaRPr lang="en-US" altLang="en-US" sz="2000"/>
          </a:p>
          <a:p>
            <a:r>
              <a:rPr lang="en-US" altLang="en-US" sz="2000"/>
              <a:t>Better Performance</a:t>
            </a:r>
            <a:endParaRPr lang="en-US" altLang="en-US" sz="2000"/>
          </a:p>
          <a:p>
            <a:r>
              <a:rPr lang="en-US" altLang="en-US" sz="2000"/>
              <a:t>Simplified Relationships</a:t>
            </a:r>
            <a:endParaRPr lang="en-US" altLang="en-US" sz="2000"/>
          </a:p>
          <a:p>
            <a:r>
              <a:rPr lang="en-US" altLang="en-US" sz="2000"/>
              <a:t>Optimized DAX Calculations</a:t>
            </a:r>
            <a:endParaRPr lang="en-US"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0"/>
          <p:cNvSpPr txBox="1">
            <a:spLocks noGrp="1"/>
          </p:cNvSpPr>
          <p:nvPr>
            <p:ph type="body" idx="1"/>
          </p:nvPr>
        </p:nvSpPr>
        <p:spPr>
          <a:xfrm>
            <a:off x="-136525" y="1234440"/>
            <a:ext cx="4493895" cy="4852670"/>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altLang="en-US"/>
              <a:t>Programming Languages &amp; Tools</a:t>
            </a:r>
            <a:endParaRPr lang="en-US" altLang="en-US"/>
          </a:p>
          <a:p>
            <a:pPr marL="228600" lvl="0" indent="-50800" algn="l" rtl="0">
              <a:lnSpc>
                <a:spcPct val="90000"/>
              </a:lnSpc>
              <a:spcBef>
                <a:spcPts val="0"/>
              </a:spcBef>
              <a:spcAft>
                <a:spcPts val="0"/>
              </a:spcAft>
              <a:buClr>
                <a:schemeClr val="dk1"/>
              </a:buClr>
              <a:buSzPts val="2800"/>
              <a:buNone/>
            </a:pPr>
            <a:endParaRPr lang="en-US" altLang="en-US"/>
          </a:p>
          <a:p>
            <a:pPr marL="228600" lvl="0" indent="-50800" algn="l" rtl="0">
              <a:lnSpc>
                <a:spcPct val="90000"/>
              </a:lnSpc>
              <a:spcBef>
                <a:spcPts val="0"/>
              </a:spcBef>
              <a:spcAft>
                <a:spcPts val="0"/>
              </a:spcAft>
              <a:buClr>
                <a:schemeClr val="dk1"/>
              </a:buClr>
              <a:buSzPts val="2800"/>
              <a:buNone/>
            </a:pPr>
            <a:r>
              <a:rPr lang="en-US" altLang="en-US"/>
              <a:t>Technologies Used</a:t>
            </a:r>
            <a:endParaRPr lang="en-US" altLang="en-US"/>
          </a:p>
          <a:p>
            <a:pPr marL="228600" lvl="0" indent="-50800" algn="l" rtl="0">
              <a:lnSpc>
                <a:spcPct val="90000"/>
              </a:lnSpc>
              <a:spcBef>
                <a:spcPts val="0"/>
              </a:spcBef>
              <a:spcAft>
                <a:spcPts val="0"/>
              </a:spcAft>
              <a:buClr>
                <a:schemeClr val="dk1"/>
              </a:buClr>
              <a:buSzPts val="2800"/>
              <a:buNone/>
            </a:pPr>
            <a:r>
              <a:rPr lang="en-US" altLang="en-US"/>
              <a:t>Power BI Desktop</a:t>
            </a:r>
            <a:endParaRPr lang="en-US" altLang="en-US"/>
          </a:p>
          <a:p>
            <a:pPr marL="228600" lvl="0" indent="-50800" algn="l" rtl="0">
              <a:lnSpc>
                <a:spcPct val="90000"/>
              </a:lnSpc>
              <a:spcBef>
                <a:spcPts val="0"/>
              </a:spcBef>
              <a:spcAft>
                <a:spcPts val="0"/>
              </a:spcAft>
              <a:buClr>
                <a:schemeClr val="dk1"/>
              </a:buClr>
              <a:buSzPts val="2800"/>
              <a:buNone/>
            </a:pPr>
            <a:endParaRPr lang="en-US" altLang="en-US"/>
          </a:p>
          <a:p>
            <a:pPr marL="228600" lvl="0" indent="-50800" algn="l" rtl="0">
              <a:lnSpc>
                <a:spcPct val="90000"/>
              </a:lnSpc>
              <a:spcBef>
                <a:spcPts val="0"/>
              </a:spcBef>
              <a:spcAft>
                <a:spcPts val="0"/>
              </a:spcAft>
              <a:buClr>
                <a:schemeClr val="dk1"/>
              </a:buClr>
              <a:buSzPts val="2800"/>
              <a:buNone/>
            </a:pPr>
            <a:r>
              <a:rPr lang="en-US" altLang="en-US"/>
              <a:t>Dashboard Development</a:t>
            </a:r>
            <a:endParaRPr lang="en-US" altLang="en-US"/>
          </a:p>
          <a:p>
            <a:pPr marL="228600" lvl="0" indent="-50800" algn="l" rtl="0">
              <a:lnSpc>
                <a:spcPct val="90000"/>
              </a:lnSpc>
              <a:spcBef>
                <a:spcPts val="0"/>
              </a:spcBef>
              <a:spcAft>
                <a:spcPts val="0"/>
              </a:spcAft>
              <a:buClr>
                <a:schemeClr val="dk1"/>
              </a:buClr>
              <a:buSzPts val="2800"/>
              <a:buNone/>
            </a:pPr>
            <a:endParaRPr lang="en-US" altLang="en-US" sz="1100"/>
          </a:p>
          <a:p>
            <a:pPr marL="228600" lvl="0" indent="-50800" algn="l" rtl="0">
              <a:lnSpc>
                <a:spcPct val="90000"/>
              </a:lnSpc>
              <a:spcBef>
                <a:spcPts val="0"/>
              </a:spcBef>
              <a:spcAft>
                <a:spcPts val="0"/>
              </a:spcAft>
              <a:buClr>
                <a:schemeClr val="dk1"/>
              </a:buClr>
              <a:buSzPts val="2800"/>
              <a:buNone/>
            </a:pPr>
            <a:endParaRPr lang="en-US" altLang="en-US" sz="1100"/>
          </a:p>
        </p:txBody>
      </p:sp>
      <p:sp>
        <p:nvSpPr>
          <p:cNvPr id="202" name="Google Shape;20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203" name="Google Shape;203;p1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204" name="Google Shape;20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05" name="Google Shape;205;p10"/>
          <p:cNvSpPr/>
          <p:nvPr/>
        </p:nvSpPr>
        <p:spPr>
          <a:xfrm>
            <a:off x="4827905" y="3983990"/>
            <a:ext cx="3477260" cy="1756410"/>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alpha val="66000"/>
            </a:srgbClr>
          </a:solid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altLang="en-US" sz="2400">
                <a:sym typeface="+mn-ea"/>
              </a:rPr>
              <a:t>Excel</a:t>
            </a:r>
            <a:endParaRPr lang="en-US" altLang="en-US" sz="1800"/>
          </a:p>
          <a:p>
            <a:pPr marL="228600" lvl="0" indent="-50800" algn="l" rtl="0">
              <a:lnSpc>
                <a:spcPct val="90000"/>
              </a:lnSpc>
              <a:spcBef>
                <a:spcPts val="0"/>
              </a:spcBef>
              <a:spcAft>
                <a:spcPts val="0"/>
              </a:spcAft>
              <a:buClr>
                <a:schemeClr val="dk1"/>
              </a:buClr>
              <a:buSzPts val="2800"/>
              <a:buNone/>
            </a:pPr>
            <a:endParaRPr lang="en-US" altLang="en-US" sz="1800"/>
          </a:p>
          <a:p>
            <a:pPr marL="228600" lvl="0" indent="-50800" algn="l" rtl="0">
              <a:lnSpc>
                <a:spcPct val="90000"/>
              </a:lnSpc>
              <a:spcBef>
                <a:spcPts val="0"/>
              </a:spcBef>
              <a:spcAft>
                <a:spcPts val="0"/>
              </a:spcAft>
              <a:buClr>
                <a:schemeClr val="dk1"/>
              </a:buClr>
              <a:buSzPts val="2800"/>
              <a:buNone/>
            </a:pPr>
            <a:r>
              <a:rPr lang="en-US" altLang="en-US" sz="1800">
                <a:sym typeface="+mn-ea"/>
              </a:rPr>
              <a:t>Primary Data Source</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6" name="Google Shape;206;p10"/>
          <p:cNvSpPr/>
          <p:nvPr/>
        </p:nvSpPr>
        <p:spPr>
          <a:xfrm>
            <a:off x="8540750" y="1165225"/>
            <a:ext cx="3475990" cy="2005965"/>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alpha val="66000"/>
            </a:srgbClr>
          </a:solid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altLang="en-US" sz="2400">
                <a:sym typeface="+mn-ea"/>
              </a:rPr>
              <a:t>DAX</a:t>
            </a:r>
            <a:endParaRPr lang="en-US" altLang="en-US" sz="2400"/>
          </a:p>
          <a:p>
            <a:pPr marL="228600" lvl="0" indent="-50800" algn="l" rtl="0">
              <a:lnSpc>
                <a:spcPct val="90000"/>
              </a:lnSpc>
              <a:spcBef>
                <a:spcPts val="0"/>
              </a:spcBef>
              <a:spcAft>
                <a:spcPts val="0"/>
              </a:spcAft>
              <a:buClr>
                <a:schemeClr val="dk1"/>
              </a:buClr>
              <a:buSzPts val="2800"/>
              <a:buNone/>
            </a:pPr>
            <a:r>
              <a:rPr lang="en-US" altLang="en-US" sz="2000">
                <a:sym typeface="+mn-ea"/>
              </a:rPr>
              <a:t>Developed KPIs including:</a:t>
            </a:r>
            <a:endParaRPr lang="en-US" altLang="en-US" sz="2000"/>
          </a:p>
          <a:p>
            <a:pPr marL="228600" lvl="0" indent="-50800" algn="l" rtl="0">
              <a:lnSpc>
                <a:spcPct val="90000"/>
              </a:lnSpc>
              <a:spcBef>
                <a:spcPts val="0"/>
              </a:spcBef>
              <a:spcAft>
                <a:spcPts val="0"/>
              </a:spcAft>
              <a:buClr>
                <a:schemeClr val="dk1"/>
              </a:buClr>
              <a:buSzPts val="2800"/>
              <a:buNone/>
            </a:pPr>
            <a:r>
              <a:rPr lang="en-US" altLang="en-US" sz="2000">
                <a:sym typeface="+mn-ea"/>
              </a:rPr>
              <a:t>Total Revenue</a:t>
            </a:r>
            <a:endParaRPr lang="en-US" altLang="en-US" sz="2000"/>
          </a:p>
          <a:p>
            <a:pPr marL="228600" lvl="0" indent="-50800" algn="l" rtl="0">
              <a:lnSpc>
                <a:spcPct val="90000"/>
              </a:lnSpc>
              <a:spcBef>
                <a:spcPts val="0"/>
              </a:spcBef>
              <a:spcAft>
                <a:spcPts val="0"/>
              </a:spcAft>
              <a:buClr>
                <a:schemeClr val="dk1"/>
              </a:buClr>
              <a:buSzPts val="2800"/>
              <a:buNone/>
            </a:pPr>
            <a:r>
              <a:rPr lang="en-US" altLang="en-US" sz="2000">
                <a:sym typeface="+mn-ea"/>
              </a:rPr>
              <a:t>Total Margin</a:t>
            </a:r>
            <a:endParaRPr lang="en-US" altLang="en-US" sz="2000"/>
          </a:p>
          <a:p>
            <a:pPr marL="228600" lvl="0" indent="-50800" algn="l" rtl="0">
              <a:lnSpc>
                <a:spcPct val="90000"/>
              </a:lnSpc>
              <a:spcBef>
                <a:spcPts val="0"/>
              </a:spcBef>
              <a:spcAft>
                <a:spcPts val="0"/>
              </a:spcAft>
              <a:buClr>
                <a:schemeClr val="dk1"/>
              </a:buClr>
              <a:buSzPts val="2800"/>
              <a:buNone/>
            </a:pPr>
            <a:r>
              <a:rPr lang="en-US" altLang="en-US" sz="2000">
                <a:sym typeface="+mn-ea"/>
              </a:rPr>
              <a:t>Profit Margin %</a:t>
            </a:r>
            <a:endParaRPr lang="en-US" altLang="en-US" sz="2000"/>
          </a:p>
          <a:p>
            <a:pPr marL="228600" lvl="0" indent="-50800" algn="l" rtl="0">
              <a:lnSpc>
                <a:spcPct val="90000"/>
              </a:lnSpc>
              <a:spcBef>
                <a:spcPts val="0"/>
              </a:spcBef>
              <a:spcAft>
                <a:spcPts val="0"/>
              </a:spcAft>
              <a:buClr>
                <a:schemeClr val="dk1"/>
              </a:buClr>
              <a:buSzPts val="2800"/>
              <a:buNone/>
            </a:pPr>
            <a:r>
              <a:rPr lang="en-US" altLang="en-US" sz="2000">
                <a:sym typeface="+mn-ea"/>
              </a:rPr>
              <a:t>Revenue per Pharmacy</a:t>
            </a:r>
            <a:endParaRPr lang="en-US" altLang="en-US" sz="2000"/>
          </a:p>
          <a:p>
            <a:pPr marL="228600" lvl="0" indent="-50800" algn="l" rtl="0">
              <a:lnSpc>
                <a:spcPct val="90000"/>
              </a:lnSpc>
              <a:spcBef>
                <a:spcPts val="0"/>
              </a:spcBef>
              <a:spcAft>
                <a:spcPts val="0"/>
              </a:spcAft>
              <a:buClr>
                <a:schemeClr val="dk1"/>
              </a:buClr>
              <a:buSzPts val="2800"/>
              <a:buNone/>
            </a:pPr>
            <a:r>
              <a:rPr lang="en-US" altLang="en-US" sz="2000">
                <a:sym typeface="+mn-ea"/>
              </a:rPr>
              <a:t>Low Profit Products</a:t>
            </a:r>
            <a:endParaRPr lang="en-US" altLang="en-US" sz="2000"/>
          </a:p>
          <a:p>
            <a:pPr marL="0" marR="0" lvl="0" indent="0" algn="l" rtl="0">
              <a:spcBef>
                <a:spcPts val="0"/>
              </a:spcBef>
              <a:spcAft>
                <a:spcPts val="0"/>
              </a:spcAft>
              <a:buNone/>
            </a:pPr>
            <a:endParaRPr sz="20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7" name="Google Shape;207;p10"/>
          <p:cNvSpPr/>
          <p:nvPr/>
        </p:nvSpPr>
        <p:spPr>
          <a:xfrm>
            <a:off x="4828540" y="1165225"/>
            <a:ext cx="3475990" cy="2005965"/>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alpha val="66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8" name="Google Shape;208;p10"/>
          <p:cNvSpPr txBox="1">
            <a:spLocks noGrp="1"/>
          </p:cNvSpPr>
          <p:nvPr>
            <p:ph type="title"/>
          </p:nvPr>
        </p:nvSpPr>
        <p:spPr>
          <a:xfrm>
            <a:off x="4827905" y="957580"/>
            <a:ext cx="4391025" cy="200596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Font typeface="Calibri" panose="020F0502020204030204"/>
              <a:buNone/>
            </a:pPr>
            <a:r>
              <a:rPr lang="en-US" altLang="en-US" sz="2400">
                <a:sym typeface="+mn-ea"/>
              </a:rPr>
              <a:t>Power Query</a:t>
            </a:r>
            <a:br>
              <a:rPr lang="en-US" altLang="en-US" sz="2000"/>
            </a:br>
            <a:r>
              <a:rPr lang="en-US" altLang="en-US" sz="2000">
                <a:sym typeface="+mn-ea"/>
              </a:rPr>
              <a:t>Data Cleaning</a:t>
            </a:r>
            <a:br>
              <a:rPr lang="en-US" altLang="en-US" sz="2000"/>
            </a:br>
            <a:r>
              <a:rPr lang="en-US" altLang="en-US" sz="2000">
                <a:sym typeface="+mn-ea"/>
              </a:rPr>
              <a:t>Data Transformation</a:t>
            </a:r>
            <a:br>
              <a:rPr lang="en-US" altLang="en-US" sz="2000"/>
            </a:br>
            <a:r>
              <a:rPr lang="en-US" altLang="en-US" sz="2000">
                <a:sym typeface="+mn-ea"/>
              </a:rPr>
              <a:t>ETL Process</a:t>
            </a:r>
            <a:br>
              <a:rPr lang="en-US" altLang="en-US" sz="2000"/>
            </a:br>
            <a:endParaRPr sz="2000">
              <a:solidFill>
                <a:schemeClr val="lt1"/>
              </a:solidFill>
            </a:endParaRPr>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
        <p:nvSpPr>
          <p:cNvPr id="3" name="Google Shape;205;p10"/>
          <p:cNvSpPr/>
          <p:nvPr/>
        </p:nvSpPr>
        <p:spPr>
          <a:xfrm>
            <a:off x="8611235" y="3984625"/>
            <a:ext cx="3405505" cy="1755775"/>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alpha val="66000"/>
            </a:srgbClr>
          </a:solid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altLang="en-US" sz="2400">
                <a:sym typeface="+mn-ea"/>
              </a:rPr>
              <a:t>Techniques Used</a:t>
            </a:r>
            <a:endParaRPr lang="en-US" altLang="en-US" sz="2400"/>
          </a:p>
          <a:p>
            <a:pPr marL="228600" lvl="0" indent="-50800" algn="l" rtl="0">
              <a:lnSpc>
                <a:spcPct val="90000"/>
              </a:lnSpc>
              <a:spcBef>
                <a:spcPts val="0"/>
              </a:spcBef>
              <a:spcAft>
                <a:spcPts val="0"/>
              </a:spcAft>
              <a:buClr>
                <a:schemeClr val="dk1"/>
              </a:buClr>
              <a:buSzPts val="2800"/>
              <a:buNone/>
            </a:pPr>
            <a:r>
              <a:rPr lang="en-US" altLang="en-US" sz="1800">
                <a:sym typeface="+mn-ea"/>
              </a:rPr>
              <a:t>Star Schema</a:t>
            </a:r>
            <a:endParaRPr lang="en-US" altLang="en-US" sz="1800"/>
          </a:p>
          <a:p>
            <a:pPr marL="228600" lvl="0" indent="-50800" algn="l" rtl="0">
              <a:lnSpc>
                <a:spcPct val="90000"/>
              </a:lnSpc>
              <a:spcBef>
                <a:spcPts val="0"/>
              </a:spcBef>
              <a:spcAft>
                <a:spcPts val="0"/>
              </a:spcAft>
              <a:buClr>
                <a:schemeClr val="dk1"/>
              </a:buClr>
              <a:buSzPts val="2800"/>
              <a:buNone/>
            </a:pPr>
            <a:r>
              <a:rPr lang="en-US" altLang="en-US" sz="1800">
                <a:sym typeface="+mn-ea"/>
              </a:rPr>
              <a:t>Data Modeling</a:t>
            </a:r>
            <a:endParaRPr lang="en-US" altLang="en-US" sz="1800"/>
          </a:p>
          <a:p>
            <a:pPr marL="228600" lvl="0" indent="-50800" algn="l" rtl="0">
              <a:lnSpc>
                <a:spcPct val="90000"/>
              </a:lnSpc>
              <a:spcBef>
                <a:spcPts val="0"/>
              </a:spcBef>
              <a:spcAft>
                <a:spcPts val="0"/>
              </a:spcAft>
              <a:buClr>
                <a:schemeClr val="dk1"/>
              </a:buClr>
              <a:buSzPts val="2800"/>
              <a:buNone/>
            </a:pPr>
            <a:r>
              <a:rPr lang="en-US" altLang="en-US" sz="1800">
                <a:sym typeface="+mn-ea"/>
              </a:rPr>
              <a:t>KPI Design</a:t>
            </a:r>
            <a:endParaRPr lang="en-US" altLang="en-US" sz="1800"/>
          </a:p>
          <a:p>
            <a:pPr marL="228600" lvl="0" indent="-50800" algn="l" rtl="0">
              <a:lnSpc>
                <a:spcPct val="90000"/>
              </a:lnSpc>
              <a:spcBef>
                <a:spcPts val="0"/>
              </a:spcBef>
              <a:spcAft>
                <a:spcPts val="0"/>
              </a:spcAft>
              <a:buClr>
                <a:schemeClr val="dk1"/>
              </a:buClr>
              <a:buSzPts val="2800"/>
              <a:buNone/>
            </a:pPr>
            <a:r>
              <a:rPr lang="en-US" altLang="en-US" sz="1800">
                <a:sym typeface="+mn-ea"/>
              </a:rPr>
              <a:t>Business Intelligence</a:t>
            </a:r>
            <a:endParaRPr lang="en-US" altLang="en-US" sz="1800"/>
          </a:p>
          <a:p>
            <a:pPr marL="228600" lvl="0" indent="-50800" algn="l" rtl="0">
              <a:lnSpc>
                <a:spcPct val="90000"/>
              </a:lnSpc>
              <a:spcBef>
                <a:spcPts val="0"/>
              </a:spcBef>
              <a:spcAft>
                <a:spcPts val="0"/>
              </a:spcAft>
              <a:buClr>
                <a:schemeClr val="dk1"/>
              </a:buClr>
              <a:buSzPts val="2800"/>
              <a:buNone/>
            </a:pPr>
            <a:r>
              <a:rPr lang="en-US" altLang="en-US" sz="1800">
                <a:sym typeface="+mn-ea"/>
              </a:rPr>
              <a:t>Interactive Reporting</a:t>
            </a: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4" name="Google Shape;174;p7" descr="C:/Users/h/Downloads/Screenshot 2026-07-02 233819.pngScreenshot 2026-07-02 233819"/>
          <p:cNvPicPr preferRelativeResize="0"/>
          <p:nvPr/>
        </p:nvPicPr>
        <p:blipFill rotWithShape="1">
          <a:blip r:embed="rId1"/>
          <a:srcRect l="6035" r="6035"/>
          <a:stretch>
            <a:fillRect/>
          </a:stretch>
        </p:blipFill>
        <p:spPr>
          <a:xfrm>
            <a:off x="111760" y="1283335"/>
            <a:ext cx="3958590" cy="2551430"/>
          </a:xfrm>
          <a:prstGeom prst="roundRect">
            <a:avLst>
              <a:gd name="adj" fmla="val 0"/>
            </a:avLst>
          </a:prstGeom>
          <a:solidFill>
            <a:srgbClr val="FFFFFF"/>
          </a:solidFill>
          <a:ln w="76200" cap="sq" cmpd="sng">
            <a:solidFill>
              <a:srgbClr val="336EA8"/>
            </a:solidFill>
            <a:prstDash val="solid"/>
            <a:miter lim="800000"/>
            <a:headEnd type="none" w="sm" len="sm"/>
            <a:tailEnd type="none" w="sm" len="sm"/>
          </a:ln>
          <a:effectLst>
            <a:reflection stA="28000" endPos="28000" dist="5000" dir="5400000" sy="-100000" algn="bl" rotWithShape="0"/>
          </a:effectLst>
        </p:spPr>
      </p:pic>
      <p:sp>
        <p:nvSpPr>
          <p:cNvPr id="170" name="Google Shape;170;p7"/>
          <p:cNvSpPr txBox="1">
            <a:spLocks noGrp="1"/>
          </p:cNvSpPr>
          <p:nvPr>
            <p:ph type="title"/>
          </p:nvPr>
        </p:nvSpPr>
        <p:spPr>
          <a:xfrm>
            <a:off x="8291830" y="1363980"/>
            <a:ext cx="5670550" cy="44481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3200" dirty="0"/>
              <a:t>Live Dashboard</a:t>
            </a:r>
            <a:br>
              <a:rPr lang="ar-SA" altLang="en-US" sz="2665" dirty="0"/>
            </a:br>
            <a:br>
              <a:rPr lang="en-US" altLang="en-US" sz="2665" dirty="0"/>
            </a:br>
            <a:r>
              <a:rPr lang="en-US" altLang="en-US" sz="2665" dirty="0"/>
              <a:t>Executive Dashboard</a:t>
            </a:r>
            <a:br>
              <a:rPr lang="en-US" altLang="en-US" sz="2665" dirty="0"/>
            </a:br>
            <a:r>
              <a:rPr lang="en-US" altLang="en-US" sz="2665">
                <a:sym typeface="+mn-ea"/>
              </a:rPr>
              <a:t>•</a:t>
            </a:r>
            <a:r>
              <a:rPr lang="en-US" altLang="en-US" sz="2665" dirty="0"/>
              <a:t>Medication Details</a:t>
            </a:r>
            <a:br>
              <a:rPr lang="en-US" altLang="en-US" sz="2665" dirty="0"/>
            </a:br>
            <a:r>
              <a:rPr lang="en-US" altLang="en-US" sz="2665" dirty="0"/>
              <a:t>Product &amp; </a:t>
            </a:r>
            <a:br>
              <a:rPr lang="en-US" altLang="en-US" sz="2665" dirty="0"/>
            </a:br>
            <a:r>
              <a:rPr lang="en-US" altLang="en-US" sz="2665">
                <a:sym typeface="+mn-ea"/>
              </a:rPr>
              <a:t>•</a:t>
            </a:r>
            <a:r>
              <a:rPr lang="en-US" altLang="en-US" sz="2665" dirty="0"/>
              <a:t>Pharmacy Analytics</a:t>
            </a:r>
            <a:br>
              <a:rPr lang="en-US" altLang="en-US" sz="2665" dirty="0"/>
            </a:br>
            <a:r>
              <a:rPr lang="en-US" altLang="en-US" sz="2665">
                <a:sym typeface="+mn-ea"/>
              </a:rPr>
              <a:t>•</a:t>
            </a:r>
            <a:r>
              <a:rPr lang="en-US" altLang="en-US" sz="2665" dirty="0"/>
              <a:t>Business Problems &amp; </a:t>
            </a:r>
            <a:br>
              <a:rPr lang="en-US" altLang="en-US" sz="2665" dirty="0"/>
            </a:br>
            <a:r>
              <a:rPr lang="en-US" altLang="en-US" sz="2665" dirty="0"/>
              <a:t>Opportunities</a:t>
            </a:r>
            <a:endParaRPr lang="en-US" altLang="en-US" sz="2665" dirty="0"/>
          </a:p>
        </p:txBody>
      </p:sp>
      <p:sp>
        <p:nvSpPr>
          <p:cNvPr id="171" name="Google Shape;17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73" name="Google Shape;17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2"/>
          <a:srcRect/>
          <a:stretch>
            <a:fillRect/>
          </a:stretch>
        </p:blipFill>
        <p:spPr>
          <a:xfrm>
            <a:off x="9010943" y="6291124"/>
            <a:ext cx="1362250" cy="365125"/>
          </a:xfrm>
          <a:prstGeom prst="rect">
            <a:avLst/>
          </a:prstGeom>
          <a:noFill/>
          <a:ln>
            <a:noFill/>
          </a:ln>
        </p:spPr>
      </p:pic>
      <p:pic>
        <p:nvPicPr>
          <p:cNvPr id="6" name="Google Shape;174;p7" descr="C:/Users/h/Downloads/Screenshot 2026-07-02 233749.pngScreenshot 2026-07-02 233749"/>
          <p:cNvPicPr preferRelativeResize="0"/>
          <p:nvPr/>
        </p:nvPicPr>
        <p:blipFill rotWithShape="1">
          <a:blip r:embed="rId3"/>
          <a:srcRect l="5" t="-6160" r="-230" b="-3042"/>
          <a:stretch>
            <a:fillRect/>
          </a:stretch>
        </p:blipFill>
        <p:spPr>
          <a:xfrm>
            <a:off x="111125" y="4029075"/>
            <a:ext cx="8042275" cy="2319655"/>
          </a:xfrm>
          <a:prstGeom prst="roundRect">
            <a:avLst>
              <a:gd name="adj" fmla="val 0"/>
            </a:avLst>
          </a:prstGeom>
          <a:solidFill>
            <a:srgbClr val="FFFFFF"/>
          </a:solidFill>
          <a:ln w="76200" cap="sq" cmpd="sng">
            <a:solidFill>
              <a:srgbClr val="336EA8"/>
            </a:solidFill>
            <a:prstDash val="solid"/>
            <a:miter lim="800000"/>
            <a:headEnd type="none" w="sm" len="sm"/>
            <a:tailEnd type="none" w="sm" len="sm"/>
          </a:ln>
          <a:effectLst>
            <a:reflection stA="28000" endPos="28000" dist="5000" dir="5400000" sy="-100000" algn="bl" rotWithShape="0"/>
          </a:effectLst>
        </p:spPr>
      </p:pic>
      <p:pic>
        <p:nvPicPr>
          <p:cNvPr id="8" name="Google Shape;174;p7" descr="C:/Users/h/Downloads/Screenshot 2026-07-02 023259.pngScreenshot 2026-07-02 023259"/>
          <p:cNvPicPr preferRelativeResize="0"/>
          <p:nvPr/>
        </p:nvPicPr>
        <p:blipFill rotWithShape="1">
          <a:blip r:embed="rId4"/>
          <a:srcRect l="10764" r="10764"/>
          <a:stretch>
            <a:fillRect/>
          </a:stretch>
        </p:blipFill>
        <p:spPr>
          <a:xfrm>
            <a:off x="4359275" y="1272540"/>
            <a:ext cx="3748405" cy="2551430"/>
          </a:xfrm>
          <a:prstGeom prst="roundRect">
            <a:avLst>
              <a:gd name="adj" fmla="val 0"/>
            </a:avLst>
          </a:prstGeom>
          <a:solidFill>
            <a:srgbClr val="FFFFFF"/>
          </a:solidFill>
          <a:ln w="76200" cap="sq" cmpd="sng">
            <a:solidFill>
              <a:srgbClr val="336EA8"/>
            </a:solidFill>
            <a:prstDash val="solid"/>
            <a:miter lim="800000"/>
            <a:headEnd type="none" w="sm" len="sm"/>
            <a:tailEnd type="none" w="sm" len="sm"/>
          </a:ln>
          <a:effectLst>
            <a:reflection stA="28000" endPos="28000" dist="5000" dir="5400000" sy="-100000" algn="bl" rotWithShape="0"/>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a:spLocks noGrp="1"/>
          </p:cNvSpPr>
          <p:nvPr>
            <p:ph type="title"/>
          </p:nvPr>
        </p:nvSpPr>
        <p:spPr>
          <a:xfrm>
            <a:off x="0" y="1240790"/>
            <a:ext cx="12192000" cy="496443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2665" dirty="0"/>
              <a:t>Key Business Insights</a:t>
            </a:r>
            <a:br>
              <a:rPr lang="en-US" altLang="en-US" sz="2665" dirty="0"/>
            </a:br>
            <a:r>
              <a:rPr lang="en-US" altLang="en-US" sz="2665" dirty="0"/>
              <a:t>Overall Performance</a:t>
            </a:r>
            <a:br>
              <a:rPr lang="en-US" altLang="en-US" sz="2665" dirty="0"/>
            </a:br>
            <a:r>
              <a:rPr lang="en-US" altLang="en-US" sz="2665" dirty="0"/>
              <a:t>Total Revenue reached 9M with a 28.04% Profit Margin, indicating strong business performance.</a:t>
            </a:r>
            <a:br>
              <a:rPr lang="en-US" altLang="en-US" sz="2665" dirty="0"/>
            </a:br>
            <a:r>
              <a:rPr lang="en-US" altLang="en-US" sz="2665" dirty="0"/>
              <a:t>The company generated a Net Profit of 2.42M across 120 pharmacies.</a:t>
            </a:r>
            <a:br>
              <a:rPr lang="en-US" altLang="en-US" sz="2665" dirty="0"/>
            </a:br>
            <a:r>
              <a:rPr lang="zh-CN" altLang="en-US" sz="2665" dirty="0"/>
              <a:t> </a:t>
            </a:r>
            <a:r>
              <a:rPr lang="en-US" altLang="en-US" sz="2665" dirty="0"/>
              <a:t>Product Performance</a:t>
            </a:r>
            <a:br>
              <a:rPr lang="en-US" altLang="en-US" sz="2665" dirty="0"/>
            </a:br>
            <a:r>
              <a:rPr lang="en-US" altLang="en-US" sz="2665" dirty="0"/>
              <a:t>AntiBioX ACE Inhibitor 400 mg is the top-performing product by revenue.</a:t>
            </a:r>
            <a:br>
              <a:rPr lang="en-US" altLang="en-US" sz="2665" dirty="0"/>
            </a:br>
            <a:r>
              <a:rPr lang="en-US" altLang="en-US" sz="2665" dirty="0"/>
              <a:t>Wellness and Personal Care are the most profitable product categories.</a:t>
            </a:r>
            <a:br>
              <a:rPr lang="en-US" altLang="en-US" sz="2665" dirty="0"/>
            </a:br>
            <a:r>
              <a:rPr lang="en-US" altLang="en-US" sz="2665" dirty="0"/>
              <a:t>12 products were identified as low-profit products and require further business analysis.</a:t>
            </a:r>
            <a:br>
              <a:rPr lang="en-US" altLang="en-US" sz="2665" dirty="0"/>
            </a:br>
            <a:r>
              <a:rPr lang="zh-CN" altLang="en-US" sz="2665" dirty="0"/>
              <a:t> </a:t>
            </a:r>
            <a:r>
              <a:rPr lang="en-US" altLang="en-US" sz="2665" dirty="0"/>
              <a:t>Business Opportunities</a:t>
            </a:r>
            <a:br>
              <a:rPr lang="en-US" altLang="en-US" sz="2665" dirty="0"/>
            </a:br>
            <a:r>
              <a:rPr lang="en-US" altLang="en-US" sz="2665" dirty="0"/>
              <a:t>Revenue is concentrated in a few high-performing brands, creating opportunities to improve the performance of other products.</a:t>
            </a:r>
            <a:br>
              <a:rPr lang="en-US" altLang="en-US" sz="2665" dirty="0"/>
            </a:br>
            <a:r>
              <a:rPr lang="en-US" altLang="en-US" sz="2665" dirty="0"/>
              <a:t>Revenue forecasting predicts stable sales over the next six months, supporting future planning and inventory management.</a:t>
            </a:r>
            <a:br>
              <a:rPr lang="en-US" altLang="en-US" sz="2665" dirty="0"/>
            </a:br>
            <a:r>
              <a:rPr lang="en-US" altLang="en-US" sz="2665" dirty="0"/>
              <a:t>Promotion and pricing strategies should be optimized to improve profitability and maximize business growth.</a:t>
            </a:r>
            <a:endParaRPr lang="en-US" altLang="en-US" sz="2665" dirty="0"/>
          </a:p>
        </p:txBody>
      </p:sp>
      <p:sp>
        <p:nvSpPr>
          <p:cNvPr id="171" name="Google Shape;17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73" name="Google Shape;17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739775" y="-64770"/>
            <a:ext cx="5143500" cy="63557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3200"/>
              <a:t>Deliverables</a:t>
            </a:r>
            <a:br>
              <a:rPr lang="en-US" altLang="en-US" sz="2665"/>
            </a:br>
            <a:r>
              <a:rPr lang="en-US" altLang="en-US" sz="2800"/>
              <a:t>Final Deliverables</a:t>
            </a:r>
            <a:br>
              <a:rPr lang="en-US" altLang="en-US" sz="2665"/>
            </a:br>
            <a:r>
              <a:rPr lang="en-US" altLang="en-US" sz="2400"/>
              <a:t>Interactive Power BI Dashboard</a:t>
            </a:r>
            <a:br>
              <a:rPr lang="en-US" altLang="en-US" sz="2400"/>
            </a:br>
            <a:r>
              <a:rPr lang="en-US" altLang="en-US" sz="2400"/>
              <a:t>PBIX Project File</a:t>
            </a:r>
            <a:br>
              <a:rPr lang="en-US" altLang="en-US" sz="2400"/>
            </a:br>
            <a:r>
              <a:rPr lang="en-US" altLang="en-US" sz="2400"/>
              <a:t>Project Documentation</a:t>
            </a:r>
            <a:br>
              <a:rPr lang="en-US" altLang="en-US" sz="2400"/>
            </a:br>
            <a:r>
              <a:rPr lang="en-US" altLang="en-US" sz="2400"/>
              <a:t>PowerPoint Presentation</a:t>
            </a:r>
            <a:br>
              <a:rPr lang="en-US" altLang="en-US" sz="2400"/>
            </a:br>
            <a:r>
              <a:rPr lang="en-US" altLang="en-US" sz="2400"/>
              <a:t>Business Report</a:t>
            </a:r>
            <a:br>
              <a:rPr lang="en-US" altLang="en-US" sz="2400"/>
            </a:br>
            <a:r>
              <a:rPr lang="en-US" altLang="en-US" sz="2400"/>
              <a:t>DAX Measures</a:t>
            </a:r>
            <a:br>
              <a:rPr lang="en-US" altLang="en-US" sz="2400"/>
            </a:br>
            <a:r>
              <a:rPr lang="en-US" altLang="en-US" sz="2400"/>
              <a:t>Data Model</a:t>
            </a:r>
            <a:endParaRPr lang="en-US" altLang="en-US" sz="2400"/>
          </a:p>
        </p:txBody>
      </p:sp>
      <p:sp>
        <p:nvSpPr>
          <p:cNvPr id="181" name="Google Shape;181;p8"/>
          <p:cNvSpPr txBox="1">
            <a:spLocks noGrp="1"/>
          </p:cNvSpPr>
          <p:nvPr>
            <p:ph type="dt" idx="10"/>
          </p:nvPr>
        </p:nvSpPr>
        <p:spPr>
          <a:xfrm>
            <a:off x="83312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85" name="Google Shape;185;p8"/>
          <p:cNvSpPr/>
          <p:nvPr/>
        </p:nvSpPr>
        <p:spPr>
          <a:xfrm rot="5400000">
            <a:off x="-965997" y="4069881"/>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1224915" y="365760"/>
            <a:ext cx="5143500" cy="635571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panose="020F0502020204030204"/>
              <a:buNone/>
            </a:pPr>
            <a:r>
              <a:rPr lang="en-US" altLang="en-US" sz="2400"/>
              <a:t>Project Team</a:t>
            </a:r>
            <a:br>
              <a:rPr lang="en-US" altLang="en-US" sz="2400"/>
            </a:br>
            <a:r>
              <a:rPr lang="en-US" altLang="en-US" sz="2400"/>
              <a:t>Team Member</a:t>
            </a:r>
            <a:br>
              <a:rPr lang="en-US" altLang="en-US" sz="2400"/>
            </a:br>
            <a:r>
              <a:rPr lang="en-US" altLang="en-US" sz="2400">
                <a:sym typeface="+mn-ea"/>
              </a:rPr>
              <a:t>•Abdulrhman Mohamed Fathi</a:t>
            </a:r>
            <a:br>
              <a:rPr lang="en-US" altLang="en-US" sz="2400">
                <a:sym typeface="+mn-ea"/>
              </a:rPr>
            </a:br>
            <a:r>
              <a:rPr lang="en-US" altLang="en-US" sz="2400">
                <a:sym typeface="+mn-ea"/>
              </a:rPr>
              <a:t>•Andrawes Elia Attia Ibrahim</a:t>
            </a:r>
            <a:br>
              <a:rPr lang="en-US" altLang="en-US" sz="2400">
                <a:sym typeface="+mn-ea"/>
              </a:rPr>
            </a:br>
            <a:r>
              <a:rPr lang="en-US" altLang="en-US" sz="2400">
                <a:sym typeface="+mn-ea"/>
              </a:rPr>
              <a:t>•Abdul Rahman Khalid Sayed</a:t>
            </a:r>
            <a:br>
              <a:rPr lang="en-US" altLang="en-US" sz="2400">
                <a:sym typeface="+mn-ea"/>
              </a:rPr>
            </a:br>
            <a:r>
              <a:rPr lang="en-US" altLang="en-US" sz="2400">
                <a:sym typeface="+mn-ea"/>
              </a:rPr>
              <a:t>•Moamen Othman Abdel Hafeez Othman</a:t>
            </a:r>
            <a:r>
              <a:rPr lang="ar-EG" altLang="en-US" sz="2400">
                <a:sym typeface="+mn-ea"/>
              </a:rPr>
              <a:t>   </a:t>
            </a:r>
            <a:br>
              <a:rPr lang="en-US" altLang="en-US" sz="2400">
                <a:sym typeface="+mn-ea"/>
              </a:rPr>
            </a:br>
            <a:r>
              <a:rPr lang="en-US" altLang="en-US" sz="2400">
                <a:sym typeface="+mn-ea"/>
              </a:rPr>
              <a:t>•Mahmoud Al-Amir Ramadan Suleiman</a:t>
            </a:r>
            <a:br>
              <a:rPr lang="en-US" altLang="en-US" sz="2400"/>
            </a:br>
            <a:endParaRPr lang="en-US" altLang="en-US" sz="2400"/>
          </a:p>
        </p:txBody>
      </p:sp>
      <p:sp>
        <p:nvSpPr>
          <p:cNvPr id="181" name="Google Shape;181;p8"/>
          <p:cNvSpPr txBox="1">
            <a:spLocks noGrp="1"/>
          </p:cNvSpPr>
          <p:nvPr>
            <p:ph type="dt" idx="10"/>
          </p:nvPr>
        </p:nvSpPr>
        <p:spPr>
          <a:xfrm>
            <a:off x="83312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183" name="Google Shape;18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85" name="Google Shape;185;p8"/>
          <p:cNvSpPr/>
          <p:nvPr/>
        </p:nvSpPr>
        <p:spPr>
          <a:xfrm rot="5400000">
            <a:off x="-965997" y="4069881"/>
            <a:ext cx="1942680" cy="1469097"/>
          </a:xfrm>
          <a:prstGeom prst="blockArc">
            <a:avLst>
              <a:gd name="adj1" fmla="val 10800000"/>
              <a:gd name="adj2" fmla="val 0"/>
              <a:gd name="adj3" fmla="val 25000"/>
            </a:avLst>
          </a:prstGeom>
          <a:solidFill>
            <a:srgbClr val="94B9D6"/>
          </a:solidFill>
          <a:ln w="12700" cap="flat" cmpd="sng">
            <a:solidFill>
              <a:srgbClr val="94B9D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
        <p:nvSpPr>
          <p:cNvPr id="3" name="Text Box 2"/>
          <p:cNvSpPr txBox="1"/>
          <p:nvPr/>
        </p:nvSpPr>
        <p:spPr>
          <a:xfrm>
            <a:off x="5182870" y="1974850"/>
            <a:ext cx="6649085" cy="7739380"/>
          </a:xfrm>
          <a:prstGeom prst="rect">
            <a:avLst/>
          </a:prstGeom>
          <a:noFill/>
        </p:spPr>
        <p:txBody>
          <a:bodyPr wrap="square" rtlCol="0">
            <a:noAutofit/>
          </a:bodyPr>
          <a:p>
            <a:pPr marL="0" lvl="0" indent="0" algn="ctr" rtl="0">
              <a:lnSpc>
                <a:spcPct val="90000"/>
              </a:lnSpc>
              <a:spcBef>
                <a:spcPts val="0"/>
              </a:spcBef>
              <a:spcAft>
                <a:spcPts val="0"/>
              </a:spcAft>
              <a:buClr>
                <a:schemeClr val="dk1"/>
              </a:buClr>
              <a:buSzPts val="4400"/>
              <a:buFont typeface="Calibri" panose="020F0502020204030204"/>
              <a:buNone/>
            </a:pPr>
            <a:r>
              <a:rPr lang="en-US" altLang="en-US" sz="2400">
                <a:sym typeface="+mn-ea"/>
              </a:rPr>
              <a:t>Responsibilities</a:t>
            </a:r>
            <a:br>
              <a:rPr lang="en-US" altLang="en-US" sz="2400">
                <a:sym typeface="+mn-ea"/>
              </a:rPr>
            </a:br>
            <a:r>
              <a:rPr lang="en-US" altLang="en-US" sz="2400">
                <a:sym typeface="+mn-ea"/>
              </a:rPr>
              <a:t>Data Cleaning</a:t>
            </a:r>
            <a:br>
              <a:rPr lang="en-US" altLang="en-US" sz="2400">
                <a:sym typeface="+mn-ea"/>
              </a:rPr>
            </a:br>
            <a:r>
              <a:rPr lang="en-US" altLang="en-US" sz="2400">
                <a:sym typeface="+mn-ea"/>
              </a:rPr>
              <a:t>Data Modeling</a:t>
            </a:r>
            <a:br>
              <a:rPr lang="en-US" altLang="en-US" sz="2400">
                <a:sym typeface="+mn-ea"/>
              </a:rPr>
            </a:br>
            <a:r>
              <a:rPr lang="en-US" altLang="en-US" sz="2400">
                <a:sym typeface="+mn-ea"/>
              </a:rPr>
              <a:t>DAX Development</a:t>
            </a:r>
            <a:br>
              <a:rPr lang="en-US" altLang="en-US" sz="2400">
                <a:sym typeface="+mn-ea"/>
              </a:rPr>
            </a:br>
            <a:r>
              <a:rPr lang="en-US" altLang="en-US" sz="2400">
                <a:sym typeface="+mn-ea"/>
              </a:rPr>
              <a:t>Dashboard Design</a:t>
            </a:r>
            <a:br>
              <a:rPr lang="en-US" altLang="en-US" sz="2400">
                <a:sym typeface="+mn-ea"/>
              </a:rPr>
            </a:br>
            <a:r>
              <a:rPr lang="en-US" altLang="en-US" sz="2400">
                <a:sym typeface="+mn-ea"/>
              </a:rPr>
              <a:t>Business Analysis</a:t>
            </a:r>
            <a:br>
              <a:rPr lang="en-US" altLang="en-US" sz="2400">
                <a:sym typeface="+mn-ea"/>
              </a:rPr>
            </a:br>
            <a:r>
              <a:rPr lang="en-US" altLang="en-US" sz="2400">
                <a:sym typeface="+mn-ea"/>
              </a:rPr>
              <a:t>Report Development</a:t>
            </a:r>
            <a:endParaRPr 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1"/>
          <p:cNvSpPr txBox="1">
            <a:spLocks noGrp="1"/>
          </p:cNvSpPr>
          <p:nvPr>
            <p:ph type="body" idx="1"/>
          </p:nvPr>
        </p:nvSpPr>
        <p:spPr>
          <a:xfrm>
            <a:off x="641985"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r>
              <a:rPr lang="en-US" altLang="en-US"/>
              <a:t>Thank You</a:t>
            </a:r>
            <a:endParaRPr lang="en-US" altLang="en-US"/>
          </a:p>
          <a:p>
            <a:pPr marL="228600" lvl="0" indent="-50800" algn="l" rtl="0">
              <a:lnSpc>
                <a:spcPct val="90000"/>
              </a:lnSpc>
              <a:spcBef>
                <a:spcPts val="0"/>
              </a:spcBef>
              <a:spcAft>
                <a:spcPts val="0"/>
              </a:spcAft>
              <a:buClr>
                <a:schemeClr val="dk1"/>
              </a:buClr>
              <a:buSzPts val="2800"/>
              <a:buNone/>
            </a:pPr>
            <a:r>
              <a:rPr lang="en-US" altLang="en-US"/>
              <a:t>Questions &amp; Discussion</a:t>
            </a:r>
            <a:endParaRPr lang="en-US" altLang="en-US"/>
          </a:p>
          <a:p>
            <a:pPr marL="228600" lvl="0" indent="-50800" algn="l" rtl="0">
              <a:lnSpc>
                <a:spcPct val="90000"/>
              </a:lnSpc>
              <a:spcBef>
                <a:spcPts val="0"/>
              </a:spcBef>
              <a:spcAft>
                <a:spcPts val="0"/>
              </a:spcAft>
              <a:buClr>
                <a:schemeClr val="dk1"/>
              </a:buClr>
              <a:buSzPts val="2800"/>
              <a:buNone/>
            </a:pPr>
            <a:endParaRPr lang="en-US" altLang="en-US"/>
          </a:p>
          <a:p>
            <a:pPr marL="228600" lvl="0" indent="-50800" algn="l" rtl="0">
              <a:lnSpc>
                <a:spcPct val="90000"/>
              </a:lnSpc>
              <a:spcBef>
                <a:spcPts val="0"/>
              </a:spcBef>
              <a:spcAft>
                <a:spcPts val="0"/>
              </a:spcAft>
              <a:buClr>
                <a:schemeClr val="dk1"/>
              </a:buClr>
              <a:buSzPts val="2800"/>
              <a:buNone/>
            </a:pPr>
            <a:r>
              <a:rPr lang="en-US" altLang="en-US"/>
              <a:t>Email:</a:t>
            </a:r>
            <a:endParaRPr lang="ar-SA" altLang="en-US"/>
          </a:p>
          <a:p>
            <a:pPr marL="228600" lvl="0" indent="-50800" algn="l" rtl="0">
              <a:lnSpc>
                <a:spcPct val="90000"/>
              </a:lnSpc>
              <a:spcBef>
                <a:spcPts val="0"/>
              </a:spcBef>
              <a:spcAft>
                <a:spcPts val="0"/>
              </a:spcAft>
              <a:buClr>
                <a:schemeClr val="dk1"/>
              </a:buClr>
              <a:buSzPts val="2800"/>
              <a:buNone/>
            </a:pPr>
            <a:r>
              <a:rPr lang="en-US" altLang="en-US">
                <a:sym typeface="+mn-ea"/>
              </a:rPr>
              <a:t>• </a:t>
            </a:r>
            <a:r>
              <a:rPr lang="en-US" altLang="en-US"/>
              <a:t>Androelia2004@gmail.com</a:t>
            </a:r>
            <a:endParaRPr lang="ar-SA" altLang="en-US"/>
          </a:p>
          <a:p>
            <a:pPr marL="228600" lvl="0" indent="-50800" algn="l" rtl="0">
              <a:lnSpc>
                <a:spcPct val="90000"/>
              </a:lnSpc>
              <a:spcBef>
                <a:spcPts val="0"/>
              </a:spcBef>
              <a:spcAft>
                <a:spcPts val="0"/>
              </a:spcAft>
              <a:buClr>
                <a:schemeClr val="dk1"/>
              </a:buClr>
              <a:buSzPts val="2800"/>
              <a:buNone/>
            </a:pPr>
            <a:r>
              <a:rPr lang="en-US" altLang="en-US">
                <a:sym typeface="+mn-ea"/>
              </a:rPr>
              <a:t>• </a:t>
            </a:r>
            <a:r>
              <a:rPr lang="en-US" altLang="ar-SA"/>
              <a:t>100bodybody@gmail.com</a:t>
            </a:r>
            <a:endParaRPr lang="en-US" altLang="ar-SA"/>
          </a:p>
          <a:p>
            <a:pPr marL="228600" lvl="0" indent="-50800" algn="l" rtl="0">
              <a:lnSpc>
                <a:spcPct val="90000"/>
              </a:lnSpc>
              <a:spcBef>
                <a:spcPts val="0"/>
              </a:spcBef>
              <a:spcAft>
                <a:spcPts val="0"/>
              </a:spcAft>
              <a:buClr>
                <a:schemeClr val="dk1"/>
              </a:buClr>
              <a:buSzPts val="2800"/>
              <a:buNone/>
            </a:pPr>
            <a:r>
              <a:rPr lang="en-US" altLang="en-US">
                <a:sym typeface="+mn-ea"/>
              </a:rPr>
              <a:t>• </a:t>
            </a:r>
            <a:r>
              <a:rPr lang="en-US" altLang="en-US"/>
              <a:t>abdulrahmankhaled9911@gmail.com</a:t>
            </a:r>
            <a:endParaRPr lang="en-US" altLang="en-US"/>
          </a:p>
          <a:p>
            <a:pPr marL="228600" lvl="0" indent="-50800" algn="l" rtl="0">
              <a:lnSpc>
                <a:spcPct val="90000"/>
              </a:lnSpc>
              <a:spcBef>
                <a:spcPts val="0"/>
              </a:spcBef>
              <a:spcAft>
                <a:spcPts val="0"/>
              </a:spcAft>
              <a:buClr>
                <a:schemeClr val="dk1"/>
              </a:buClr>
              <a:buSzPts val="2800"/>
              <a:buNone/>
            </a:pPr>
            <a:r>
              <a:rPr lang="en-US" altLang="en-US">
                <a:sym typeface="+mn-ea"/>
              </a:rPr>
              <a:t>• </a:t>
            </a:r>
            <a:r>
              <a:rPr lang="en-US" altLang="en-US"/>
              <a:t>moamenothman68@gmail.com</a:t>
            </a:r>
            <a:endParaRPr lang="en-US" altLang="en-US"/>
          </a:p>
          <a:p>
            <a:pPr marL="228600" lvl="0" indent="-50800" algn="l" rtl="0">
              <a:lnSpc>
                <a:spcPct val="90000"/>
              </a:lnSpc>
              <a:spcBef>
                <a:spcPts val="0"/>
              </a:spcBef>
              <a:spcAft>
                <a:spcPts val="0"/>
              </a:spcAft>
              <a:buClr>
                <a:schemeClr val="dk1"/>
              </a:buClr>
              <a:buSzPts val="2800"/>
              <a:buNone/>
            </a:pPr>
            <a:r>
              <a:rPr lang="en-US" altLang="en-US">
                <a:sym typeface="+mn-ea"/>
              </a:rPr>
              <a:t>• </a:t>
            </a:r>
            <a:r>
              <a:rPr lang="en-US" altLang="en-US"/>
              <a:t>asforalyamany1@gmail.com</a:t>
            </a:r>
            <a:endParaRPr lang="en-US" altLang="en-US"/>
          </a:p>
        </p:txBody>
      </p:sp>
      <p:sp>
        <p:nvSpPr>
          <p:cNvPr id="215" name="Google Shape;21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altLang="en-US" dirty="0">
                <a:sym typeface="+mn-ea"/>
              </a:rPr>
              <a:t>6/30/2026</a:t>
            </a:r>
            <a:endParaRPr lang="en-US" dirty="0"/>
          </a:p>
        </p:txBody>
      </p:sp>
      <p:sp>
        <p:nvSpPr>
          <p:cNvPr id="216" name="Google Shape;216;p1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p>
        </p:txBody>
      </p:sp>
      <p:sp>
        <p:nvSpPr>
          <p:cNvPr id="217" name="Google Shape;21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5816</Words>
  <Application>WPS Presentation</Application>
  <PresentationFormat>Widescreen</PresentationFormat>
  <Paragraphs>183</Paragraphs>
  <Slides>18</Slides>
  <Notes>12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Arial</vt:lpstr>
      <vt:lpstr>SimSun</vt:lpstr>
      <vt:lpstr>Wingdings</vt:lpstr>
      <vt:lpstr>Arial</vt:lpstr>
      <vt:lpstr>Calibri</vt:lpstr>
      <vt:lpstr>Microsoft YaHei</vt:lpstr>
      <vt:lpstr>Arial Unicode MS</vt:lpstr>
      <vt:lpstr>Office Theme</vt:lpstr>
      <vt:lpstr>Pharmaceutical Sales Analytics Dashboard DEPI Graduation Project </vt:lpstr>
      <vt:lpstr>Project Idea  Business Problem  Pharmaceutical companies generate thousands of sales transactions across different pharmacies, products, and regions. However, analyzing this large amount of data manually is time-consuming and makes it difficult to identify sales trends, profitability, and business opportunities.</vt:lpstr>
      <vt:lpstr>Project Idea  Proposed Solution  Develop an interactive Power BI dashboard that provides real-time business insights through KPIs, dynamic visualizations, and advanced analytics to support decision-making.</vt:lpstr>
      <vt:lpstr>Project Idea  Business Problem  Pharmaceutical companies generate thousands of sales transactions across different pharmacies, products, and regions. However, analyzing this large amount of data manually is time-consuming and makes it difficult to identify sales trends, profitability, and business opportunities.</vt:lpstr>
      <vt:lpstr>Project Idea  Unique Value Proposition  Interactive dashboards Business-focused KPIs Product profitability analysis Pharmacy performance analysis Promotion effectiveness analysis Dynamic filtering and drill-down capabilities</vt:lpstr>
      <vt:lpstr>Project Wireframe •Dashboard Structure The solution consists of four interactive dashboard pages: •Executive Dashboard Provides an overview of overall business performance through KPIs and sales trends. •Medication Details Displays detailed information about pharmaceutical products. •Product &amp; Pharmacy Analytics Analyzes product performance and compares pharmacies across different regions. •Business Problems &amp; Opportunities Identifies low-profit products, promotion effectiveness, and improvement opportunities.</vt:lpstr>
      <vt:lpstr>Dashboard Navigation  Executive Dashboard ↓ Product &amp; Pharmacy Analytics ↓ Medication Details ↓ Business Problems &amp; Opportunities  User Experience •Easy navigation •Interactive slicers •Responsive visualizations •Clear KPI presentation •Business-oriented insights</vt:lpstr>
      <vt:lpstr>Revenue Forecast  Purpose Predict future revenue based on historical sales data.  Key Insight  Revenue is expected to remain stable over the next six months with normal fluctuations.  Business Value  Supports budgeting, inventory planning, and strategic decision-making.</vt:lpstr>
      <vt:lpstr>Revenue vs Profit Purpose  Analyze the relationship between revenue and profit.  Key Insight  Higher revenue generally leads to higher profit, with a few outstanding high-performing sales.  Business Value  Helps identify profitable products and business opportunities.</vt:lpstr>
      <vt:lpstr>Profit Margin by Category Purpose  Compare profit margins across product categories.  Key Insight  Wellness and Personal Care generate the highest profit contribution.  Business Value  Supports pricing, marketing, and product portfolio decisions.</vt:lpstr>
      <vt:lpstr>End Users &amp; Features Target Users Sales Manager Monitor revenue and profitability Track monthly sales trends Product Manager Analyze product performance Identify top and low-performing products Regional Manager Compare pharmacy performance Monitor regional sales  </vt:lpstr>
      <vt:lpstr>Data Structure Data Model  The project follows a Star Schema data model.  Fact Table  T_FactSales  Contains:  Revenue Cost Margin Units Sold Promotion Flag </vt:lpstr>
      <vt:lpstr>Power Query Data Cleaning Data Transformation ETL Process </vt:lpstr>
      <vt:lpstr>Live Dashboard  Executive Dashboard •Medication Details Product &amp;  •Pharmacy Analytics •Business Problems &amp;  Opportunities</vt:lpstr>
      <vt:lpstr>Key Business Insights Overall Performance Total Revenue reached 9M with a 28.04% Profit Margin, indicating strong business performance. The company generated a Net Profit of 2.42M across 120 pharmacies.  Product Performance AntiBioX ACE Inhibitor 400 mg is the top-performing product by revenue. Wellness and Personal Care are the most profitable product categories. 12 products were identified as low-profit products and require further business analysis.  Business Opportunities Revenue is concentrated in a few high-performing brands, creating opportunities to improve the performance of other products. Revenue forecasting predicts stable sales over the next six months, supporting future planning and inventory management. Promotion and pricing strategies should be optimized to improve profitability and maximize business growth.</vt:lpstr>
      <vt:lpstr>Deliverables Final Deliverables Interactive Power BI Dashboard PBIX Project File Project Documentation PowerPoint Presentation Business Report DAX Measures Data Model</vt:lpstr>
      <vt:lpstr>Project Team Team Member •Abdulrhman Mohamed Fathi •Andrawes Elia Attia Ibrahim •Abdul Rahman Khalid Sayed •Moamen Othman Abdel Hafeez Othman    •Mahmoud Al-Amir Ramadan Suleiman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dc:creator>
  <cp:lastModifiedBy>بودي بودي</cp:lastModifiedBy>
  <cp:revision>11</cp:revision>
  <dcterms:created xsi:type="dcterms:W3CDTF">2024-03-14T10:03:00Z</dcterms:created>
  <dcterms:modified xsi:type="dcterms:W3CDTF">2026-07-03T09:34:36Z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DCDBAE5056B643C584DE0A629B5BDDC0_13</vt:lpwstr>
  </property>
  <property fmtid="{D5CDD505-2E9C-101B-9397-08002B2CF9AE}" pid="3" name="KSOProductBuildVer">
    <vt:lpwstr>1033-12.1.0.26880</vt:lpwstr>
  </property>
</Properties>
</file>